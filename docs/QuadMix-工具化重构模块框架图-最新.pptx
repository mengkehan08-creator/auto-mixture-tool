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</p:sldIdLst>
  <p:sldSz cx="12192000" cy="6858000" type="screen16x9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3" Type="http://schemas.openxmlformats.org/officeDocument/2006/relationships/presProps" Target="presProps.xml" /><Relationship Id="rId4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defPPr/>
            <a:lvl1pPr algn="ctr">
              <a:defRPr sz="6000"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6000"/>
              <a:t>Click to edit Master title style</a:t>
            </a:r>
            <a:endParaRPr lang="en-CN" sz="6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defPPr/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lang="en-US" sz="2400"/>
              <a:t>Click to edit Master subtitle style</a:t>
            </a:r>
            <a:endParaRPr lang="en-CN" sz="24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defPPr/>
            <a:lvl1pPr>
              <a:defRPr sz="6000"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6000"/>
              <a:t>Click to edit Master title style</a:t>
            </a:r>
            <a:endParaRPr lang="en-CN" sz="6000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defPPr/>
            <a:lvl1pPr marL="0" indent="0">
              <a:buNone/>
              <a:defRPr sz="2400">
                <a:solidFill>
                  <a:schemeClr val="tx1">
                    <a:tint val="82000"/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sz="2400"/>
              <a:t>Click to edit Master text styles</a:t>
            </a:r>
            <a:endParaRPr sz="240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defPPr/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400"/>
              <a:t>Click to edit Master text styles</a:t>
            </a:r>
            <a:endParaRPr sz="240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defPPr/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400"/>
              <a:t>Click to edit Master text styles</a:t>
            </a:r>
            <a:endParaRPr sz="240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defPPr/>
            <a:lvl1pPr>
              <a:defRPr sz="3200"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3200"/>
              <a:t>Click to edit Master title style</a:t>
            </a:r>
            <a:endParaRPr lang="en-CN" sz="3200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defPPr/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z="3200"/>
              <a:t>Click to edit Master text styles</a:t>
            </a:r>
            <a:endParaRPr sz="3200"/>
          </a:p>
          <a:p>
            <a:pPr lvl="1"/>
            <a:r>
              <a:rPr lang="en-US" sz="3200"/>
              <a:t>Second level</a:t>
            </a:r>
            <a:endParaRPr sz="3200"/>
          </a:p>
          <a:p>
            <a:pPr lvl="2"/>
            <a:r>
              <a:rPr lang="en-US" sz="3200"/>
              <a:t>Third level</a:t>
            </a:r>
            <a:endParaRPr sz="3200"/>
          </a:p>
          <a:p>
            <a:pPr lvl="3"/>
            <a:r>
              <a:rPr lang="en-US" sz="3200"/>
              <a:t>Fourth level</a:t>
            </a:r>
            <a:endParaRPr sz="3200"/>
          </a:p>
          <a:p>
            <a:pPr lvl="4"/>
            <a:r>
              <a:rPr lang="en-US" sz="3200"/>
              <a:t>Fifth level</a:t>
            </a:r>
            <a:endParaRPr lang="en-CN" sz="3200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defPPr/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z="1600"/>
              <a:t>Click to edit Master text styles</a:t>
            </a:r>
            <a:endParaRPr sz="160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defPPr/>
            <a:lvl1pPr>
              <a:defRPr sz="3200"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3200"/>
              <a:t>Click to edit Master title style</a:t>
            </a:r>
            <a:endParaRPr lang="en-CN" sz="3200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defPPr/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CN" sz="3200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defPPr/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z="1600"/>
              <a:t>Click to edit Master text styles</a:t>
            </a:r>
            <a:endParaRPr sz="160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2800" smtClean="0"/>
              <a:t>2026/5/12</a:t>
            </a:fld>
            <a:endParaRPr lang="en-CN" sz="280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280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/>
            <a:lvl1pPr algn="l">
              <a:defRPr sz="1200">
                <a:solidFill>
                  <a:schemeClr val="tx1">
                    <a:tint val="82000"/>
                    <a:tint val="82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F1999F08-79FE-AA4C-9B9D-785CACBE3F19}" type="datetimeFigureOut">
              <a:rPr lang="en-CN" sz="1200" smtClean="0"/>
              <a:t>2026/5/12</a:t>
            </a:fld>
            <a:endParaRPr lang="en-CN" sz="12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/>
            <a:lvl1pPr algn="ctr">
              <a:defRPr sz="1200">
                <a:solidFill>
                  <a:schemeClr val="tx1">
                    <a:tint val="82000"/>
                    <a:tint val="82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CN" sz="12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/>
            <a:lvl1pPr algn="r">
              <a:defRPr sz="1200">
                <a:solidFill>
                  <a:schemeClr val="tx1">
                    <a:tint val="82000"/>
                    <a:tint val="82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/>
            <a:fld id="{687ADD7D-5451-F94B-9F2C-E86DFFC8390B}" type="slidenum">
              <a:rPr lang="en-CN" sz="1200" smtClean="0"/>
              <a:t>‹#›</a:t>
            </a:fld>
            <a:endParaRPr lang="en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254000" y="127000"/>
            <a:ext cx="1168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200">
                <a:solidFill>
                  <a:srgbClr val="1E3A8A"/>
                </a:solidFill>
                <a:latin typeface="Microsoft YaHei"/>
                <a:ea typeface="Microsoft YaHei"/>
              </a:rPr>
              <a:t>QuadMix 工具化重构模块框架图</a:t>
            </a:r>
            <a:endParaRPr/>
          </a:p>
        </p:txBody>
      </p:sp>
      <p:sp>
        <p:nvSpPr>
          <p:cNvPr id="3" name=""/>
          <p:cNvSpPr/>
          <p:nvPr/>
        </p:nvSpPr>
        <p:spPr>
          <a:xfrm>
            <a:off x="254000" y="609600"/>
            <a:ext cx="1168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面向数据配比算法、训练验证与集群调度的可插拔平台</a:t>
            </a:r>
            <a:endParaRPr/>
          </a:p>
        </p:txBody>
      </p:sp>
      <p:sp>
        <p:nvSpPr>
          <p:cNvPr id="4" name=""/>
          <p:cNvSpPr/>
          <p:nvPr/>
        </p:nvSpPr>
        <p:spPr>
          <a:xfrm>
            <a:off x="127000" y="1041400"/>
            <a:ext cx="1143000" cy="5689600"/>
          </a:xfrm>
          <a:prstGeom prst="roundRect">
            <a:avLst>
              <a:gd name="adj" fmla="val 437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5" name=""/>
          <p:cNvSpPr/>
          <p:nvPr/>
        </p:nvSpPr>
        <p:spPr>
          <a:xfrm>
            <a:off x="127000" y="11176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E3A8A"/>
                </a:solidFill>
                <a:latin typeface="Microsoft YaHei"/>
                <a:ea typeface="Microsoft YaHei"/>
              </a:rPr>
              <a:t>数据流说明</a:t>
            </a:r>
            <a:endParaRPr/>
          </a:p>
        </p:txBody>
      </p:sp>
      <p:sp>
        <p:nvSpPr>
          <p:cNvPr id="6" name=""/>
          <p:cNvSpPr/>
          <p:nvPr/>
        </p:nvSpPr>
        <p:spPr>
          <a:xfrm>
            <a:off x="254000" y="14986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7" name=""/>
          <p:cNvSpPr/>
          <p:nvPr/>
        </p:nvSpPr>
        <p:spPr>
          <a:xfrm>
            <a:off x="254000" y="16002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FFFFFF"/>
                </a:solidFill>
                <a:latin typeface="Microsoft YaHei"/>
                <a:ea typeface="Microsoft YaHei"/>
              </a:rPr>
              <a:t>① 上传数据集</a:t>
            </a:r>
            <a:endParaRPr/>
          </a:p>
        </p:txBody>
      </p:sp>
      <p:sp>
        <p:nvSpPr>
          <p:cNvPr id="8" name=""/>
          <p:cNvSpPr/>
          <p:nvPr/>
        </p:nvSpPr>
        <p:spPr>
          <a:xfrm>
            <a:off x="254000" y="21590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9" name=""/>
          <p:cNvSpPr/>
          <p:nvPr/>
        </p:nvSpPr>
        <p:spPr>
          <a:xfrm>
            <a:off x="254000" y="22606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② 数据校验</a:t>
            </a:r>
            <a:endParaRPr/>
          </a:p>
        </p:txBody>
      </p:sp>
      <p:sp>
        <p:nvSpPr>
          <p:cNvPr id="10" name=""/>
          <p:cNvSpPr/>
          <p:nvPr/>
        </p:nvSpPr>
        <p:spPr>
          <a:xfrm>
            <a:off x="254000" y="28194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1" name=""/>
          <p:cNvSpPr/>
          <p:nvPr/>
        </p:nvSpPr>
        <p:spPr>
          <a:xfrm>
            <a:off x="254000" y="29210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③ 统一数据接口</a:t>
            </a:r>
            <a:endParaRPr/>
          </a:p>
        </p:txBody>
      </p:sp>
      <p:sp>
        <p:nvSpPr>
          <p:cNvPr id="12" name=""/>
          <p:cNvSpPr/>
          <p:nvPr/>
        </p:nvSpPr>
        <p:spPr>
          <a:xfrm>
            <a:off x="254000" y="34798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3" name=""/>
          <p:cNvSpPr/>
          <p:nvPr/>
        </p:nvSpPr>
        <p:spPr>
          <a:xfrm>
            <a:off x="254000" y="35814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④ 配比算法选择</a:t>
            </a:r>
            <a:endParaRPr/>
          </a:p>
        </p:txBody>
      </p:sp>
      <p:sp>
        <p:nvSpPr>
          <p:cNvPr id="14" name=""/>
          <p:cNvSpPr/>
          <p:nvPr/>
        </p:nvSpPr>
        <p:spPr>
          <a:xfrm>
            <a:off x="254000" y="41402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5" name=""/>
          <p:cNvSpPr/>
          <p:nvPr/>
        </p:nvSpPr>
        <p:spPr>
          <a:xfrm>
            <a:off x="254000" y="42418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⑤ 训练</a:t>
            </a:r>
            <a:endParaRPr/>
          </a:p>
        </p:txBody>
      </p:sp>
      <p:sp>
        <p:nvSpPr>
          <p:cNvPr id="16" name=""/>
          <p:cNvSpPr/>
          <p:nvPr/>
        </p:nvSpPr>
        <p:spPr>
          <a:xfrm>
            <a:off x="254000" y="48006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7" name=""/>
          <p:cNvSpPr/>
          <p:nvPr/>
        </p:nvSpPr>
        <p:spPr>
          <a:xfrm>
            <a:off x="254000" y="49022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⑥ 验证</a:t>
            </a:r>
            <a:endParaRPr/>
          </a:p>
        </p:txBody>
      </p:sp>
      <p:sp>
        <p:nvSpPr>
          <p:cNvPr id="18" name=""/>
          <p:cNvSpPr/>
          <p:nvPr/>
        </p:nvSpPr>
        <p:spPr>
          <a:xfrm>
            <a:off x="254000" y="54610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9" name=""/>
          <p:cNvSpPr/>
          <p:nvPr/>
        </p:nvSpPr>
        <p:spPr>
          <a:xfrm>
            <a:off x="254000" y="55626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⑦ 结果分析</a:t>
            </a:r>
            <a:endParaRPr/>
          </a:p>
        </p:txBody>
      </p:sp>
      <p:sp>
        <p:nvSpPr>
          <p:cNvPr id="20" name=""/>
          <p:cNvSpPr/>
          <p:nvPr/>
        </p:nvSpPr>
        <p:spPr>
          <a:xfrm>
            <a:off x="1397000" y="1041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21" name=""/>
          <p:cNvSpPr/>
          <p:nvPr/>
        </p:nvSpPr>
        <p:spPr>
          <a:xfrm>
            <a:off x="1498600" y="1117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>
            <a:off x="1498600" y="1155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3" name=""/>
          <p:cNvSpPr/>
          <p:nvPr/>
        </p:nvSpPr>
        <p:spPr>
          <a:xfrm>
            <a:off x="1828800" y="1130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用户接口层</a:t>
            </a:r>
            <a:endParaRPr/>
          </a:p>
        </p:txBody>
      </p:sp>
      <p:sp>
        <p:nvSpPr>
          <p:cNvPr id="24" name=""/>
          <p:cNvSpPr/>
          <p:nvPr/>
        </p:nvSpPr>
        <p:spPr>
          <a:xfrm>
            <a:off x="3225800" y="1117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5" name=""/>
          <p:cNvSpPr/>
          <p:nvPr/>
        </p:nvSpPr>
        <p:spPr>
          <a:xfrm>
            <a:off x="3263900" y="1155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CLI</a:t>
            </a:r>
            <a:endParaRPr/>
          </a:p>
        </p:txBody>
      </p:sp>
      <p:sp>
        <p:nvSpPr>
          <p:cNvPr id="26" name=""/>
          <p:cNvSpPr/>
          <p:nvPr/>
        </p:nvSpPr>
        <p:spPr>
          <a:xfrm>
            <a:off x="5073650" y="1117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7" name=""/>
          <p:cNvSpPr/>
          <p:nvPr/>
        </p:nvSpPr>
        <p:spPr>
          <a:xfrm>
            <a:off x="5111750" y="1155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API</a:t>
            </a:r>
            <a:endParaRPr/>
          </a:p>
        </p:txBody>
      </p:sp>
      <p:sp>
        <p:nvSpPr>
          <p:cNvPr id="28" name=""/>
          <p:cNvSpPr/>
          <p:nvPr/>
        </p:nvSpPr>
        <p:spPr>
          <a:xfrm>
            <a:off x="6921500" y="1117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9" name=""/>
          <p:cNvSpPr/>
          <p:nvPr/>
        </p:nvSpPr>
        <p:spPr>
          <a:xfrm>
            <a:off x="6959600" y="1155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YAML配置</a:t>
            </a:r>
            <a:endParaRPr/>
          </a:p>
        </p:txBody>
      </p:sp>
      <p:sp>
        <p:nvSpPr>
          <p:cNvPr id="30" name=""/>
          <p:cNvSpPr/>
          <p:nvPr/>
        </p:nvSpPr>
        <p:spPr>
          <a:xfrm>
            <a:off x="8769350" y="1117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1" name=""/>
          <p:cNvSpPr/>
          <p:nvPr/>
        </p:nvSpPr>
        <p:spPr>
          <a:xfrm>
            <a:off x="8807450" y="1155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Web/服务接口</a:t>
            </a:r>
            <a:endParaRPr/>
          </a:p>
        </p:txBody>
      </p:sp>
      <p:sp>
        <p:nvSpPr>
          <p:cNvPr id="32" name=""/>
          <p:cNvSpPr/>
          <p:nvPr/>
        </p:nvSpPr>
        <p:spPr>
          <a:xfrm>
            <a:off x="1397000" y="1549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33" name=""/>
          <p:cNvSpPr/>
          <p:nvPr/>
        </p:nvSpPr>
        <p:spPr>
          <a:xfrm>
            <a:off x="1498600" y="1625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34" name=""/>
          <p:cNvSpPr/>
          <p:nvPr/>
        </p:nvSpPr>
        <p:spPr>
          <a:xfrm>
            <a:off x="1498600" y="1663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" name=""/>
          <p:cNvSpPr/>
          <p:nvPr/>
        </p:nvSpPr>
        <p:spPr>
          <a:xfrm>
            <a:off x="1828800" y="1638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实验编排与调度层</a:t>
            </a:r>
            <a:endParaRPr/>
          </a:p>
        </p:txBody>
      </p:sp>
      <p:sp>
        <p:nvSpPr>
          <p:cNvPr id="36" name=""/>
          <p:cNvSpPr/>
          <p:nvPr/>
        </p:nvSpPr>
        <p:spPr>
          <a:xfrm>
            <a:off x="322580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7" name=""/>
          <p:cNvSpPr/>
          <p:nvPr/>
        </p:nvSpPr>
        <p:spPr>
          <a:xfrm>
            <a:off x="326390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Pipeline Manager / CanonicalPipeline</a:t>
            </a:r>
            <a:endParaRPr/>
          </a:p>
        </p:txBody>
      </p:sp>
      <p:sp>
        <p:nvSpPr>
          <p:cNvPr id="38" name=""/>
          <p:cNvSpPr/>
          <p:nvPr/>
        </p:nvSpPr>
        <p:spPr>
          <a:xfrm>
            <a:off x="507365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9" name=""/>
          <p:cNvSpPr/>
          <p:nvPr/>
        </p:nvSpPr>
        <p:spPr>
          <a:xfrm>
            <a:off x="511175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任务编排</a:t>
            </a:r>
            <a:endParaRPr/>
          </a:p>
        </p:txBody>
      </p:sp>
      <p:sp>
        <p:nvSpPr>
          <p:cNvPr id="40" name=""/>
          <p:cNvSpPr/>
          <p:nvPr/>
        </p:nvSpPr>
        <p:spPr>
          <a:xfrm>
            <a:off x="692150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1" name=""/>
          <p:cNvSpPr/>
          <p:nvPr/>
        </p:nvSpPr>
        <p:spPr>
          <a:xfrm>
            <a:off x="695960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日志与检查点</a:t>
            </a:r>
            <a:endParaRPr/>
          </a:p>
        </p:txBody>
      </p:sp>
      <p:sp>
        <p:nvSpPr>
          <p:cNvPr id="42" name=""/>
          <p:cNvSpPr/>
          <p:nvPr/>
        </p:nvSpPr>
        <p:spPr>
          <a:xfrm>
            <a:off x="876935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3" name=""/>
          <p:cNvSpPr/>
          <p:nvPr/>
        </p:nvSpPr>
        <p:spPr>
          <a:xfrm>
            <a:off x="880745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高性能集群任务提交</a:t>
            </a:r>
            <a:endParaRPr/>
          </a:p>
        </p:txBody>
      </p:sp>
      <p:sp>
        <p:nvSpPr>
          <p:cNvPr id="44" name=""/>
          <p:cNvSpPr/>
          <p:nvPr/>
        </p:nvSpPr>
        <p:spPr>
          <a:xfrm>
            <a:off x="1397000" y="2057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D1FAE5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45" name=""/>
          <p:cNvSpPr/>
          <p:nvPr/>
        </p:nvSpPr>
        <p:spPr>
          <a:xfrm>
            <a:off x="1498600" y="2260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46" name=""/>
          <p:cNvSpPr/>
          <p:nvPr/>
        </p:nvSpPr>
        <p:spPr>
          <a:xfrm>
            <a:off x="1498600" y="2298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7" name=""/>
          <p:cNvSpPr/>
          <p:nvPr/>
        </p:nvSpPr>
        <p:spPr>
          <a:xfrm>
            <a:off x="1828800" y="2273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数据检测与验证层</a:t>
            </a:r>
            <a:endParaRPr/>
          </a:p>
        </p:txBody>
      </p:sp>
      <p:sp>
        <p:nvSpPr>
          <p:cNvPr id="48" name=""/>
          <p:cNvSpPr/>
          <p:nvPr/>
        </p:nvSpPr>
        <p:spPr>
          <a:xfrm>
            <a:off x="3225800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"/>
          <p:cNvSpPr/>
          <p:nvPr/>
        </p:nvSpPr>
        <p:spPr>
          <a:xfrm>
            <a:off x="3263900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上传数据集校验</a:t>
            </a:r>
            <a:endParaRPr/>
          </a:p>
        </p:txBody>
      </p:sp>
      <p:sp>
        <p:nvSpPr>
          <p:cNvPr id="50" name=""/>
          <p:cNvSpPr/>
          <p:nvPr/>
        </p:nvSpPr>
        <p:spPr>
          <a:xfrm>
            <a:off x="4281714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1" name=""/>
          <p:cNvSpPr/>
          <p:nvPr/>
        </p:nvSpPr>
        <p:spPr>
          <a:xfrm>
            <a:off x="4319814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格式校验·可替换</a:t>
            </a:r>
            <a:endParaRPr/>
          </a:p>
        </p:txBody>
      </p:sp>
      <p:sp>
        <p:nvSpPr>
          <p:cNvPr id="52" name=""/>
          <p:cNvSpPr/>
          <p:nvPr/>
        </p:nvSpPr>
        <p:spPr>
          <a:xfrm>
            <a:off x="5337629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3" name=""/>
          <p:cNvSpPr/>
          <p:nvPr/>
        </p:nvSpPr>
        <p:spPr>
          <a:xfrm>
            <a:off x="5375729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列类型检查</a:t>
            </a:r>
            <a:endParaRPr/>
          </a:p>
        </p:txBody>
      </p:sp>
      <p:sp>
        <p:nvSpPr>
          <p:cNvPr id="54" name=""/>
          <p:cNvSpPr/>
          <p:nvPr/>
        </p:nvSpPr>
        <p:spPr>
          <a:xfrm>
            <a:off x="6393543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>
            <a:off x="6431643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标签检查</a:t>
            </a:r>
            <a:endParaRPr/>
          </a:p>
        </p:txBody>
      </p:sp>
      <p:sp>
        <p:nvSpPr>
          <p:cNvPr id="56" name=""/>
          <p:cNvSpPr/>
          <p:nvPr/>
        </p:nvSpPr>
        <p:spPr>
          <a:xfrm>
            <a:off x="7449457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7" name=""/>
          <p:cNvSpPr/>
          <p:nvPr/>
        </p:nvSpPr>
        <p:spPr>
          <a:xfrm>
            <a:off x="7487557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编码检查</a:t>
            </a:r>
            <a:endParaRPr/>
          </a:p>
        </p:txBody>
      </p:sp>
      <p:sp>
        <p:nvSpPr>
          <p:cNvPr id="58" name=""/>
          <p:cNvSpPr/>
          <p:nvPr/>
        </p:nvSpPr>
        <p:spPr>
          <a:xfrm>
            <a:off x="8505371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9" name=""/>
          <p:cNvSpPr/>
          <p:nvPr/>
        </p:nvSpPr>
        <p:spPr>
          <a:xfrm>
            <a:off x="8543471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重复文件</a:t>
            </a:r>
            <a:endParaRPr/>
          </a:p>
        </p:txBody>
      </p:sp>
      <p:sp>
        <p:nvSpPr>
          <p:cNvPr id="60" name=""/>
          <p:cNvSpPr/>
          <p:nvPr/>
        </p:nvSpPr>
        <p:spPr>
          <a:xfrm>
            <a:off x="9561286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1" name=""/>
          <p:cNvSpPr/>
          <p:nvPr/>
        </p:nvSpPr>
        <p:spPr>
          <a:xfrm>
            <a:off x="9599386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质量/重复率</a:t>
            </a:r>
            <a:endParaRPr/>
          </a:p>
        </p:txBody>
      </p:sp>
      <p:sp>
        <p:nvSpPr>
          <p:cNvPr id="62" name=""/>
          <p:cNvSpPr/>
          <p:nvPr/>
        </p:nvSpPr>
        <p:spPr>
          <a:xfrm>
            <a:off x="1397000" y="2819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E0F2FE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63" name=""/>
          <p:cNvSpPr/>
          <p:nvPr/>
        </p:nvSpPr>
        <p:spPr>
          <a:xfrm>
            <a:off x="1498600" y="2895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64" name=""/>
          <p:cNvSpPr/>
          <p:nvPr/>
        </p:nvSpPr>
        <p:spPr>
          <a:xfrm>
            <a:off x="1498600" y="2933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5" name=""/>
          <p:cNvSpPr/>
          <p:nvPr/>
        </p:nvSpPr>
        <p:spPr>
          <a:xfrm>
            <a:off x="1828800" y="2908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配置管理层</a:t>
            </a:r>
            <a:endParaRPr/>
          </a:p>
        </p:txBody>
      </p:sp>
      <p:sp>
        <p:nvSpPr>
          <p:cNvPr id="66" name=""/>
          <p:cNvSpPr/>
          <p:nvPr/>
        </p:nvSpPr>
        <p:spPr>
          <a:xfrm>
            <a:off x="322580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7" name=""/>
          <p:cNvSpPr/>
          <p:nvPr/>
        </p:nvSpPr>
        <p:spPr>
          <a:xfrm>
            <a:off x="326390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dataset config</a:t>
            </a:r>
            <a:endParaRPr/>
          </a:p>
        </p:txBody>
      </p:sp>
      <p:sp>
        <p:nvSpPr>
          <p:cNvPr id="68" name=""/>
          <p:cNvSpPr/>
          <p:nvPr/>
        </p:nvSpPr>
        <p:spPr>
          <a:xfrm>
            <a:off x="507365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9" name=""/>
          <p:cNvSpPr/>
          <p:nvPr/>
        </p:nvSpPr>
        <p:spPr>
          <a:xfrm>
            <a:off x="511175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algorithm config</a:t>
            </a:r>
            <a:endParaRPr/>
          </a:p>
        </p:txBody>
      </p:sp>
      <p:sp>
        <p:nvSpPr>
          <p:cNvPr id="70" name=""/>
          <p:cNvSpPr/>
          <p:nvPr/>
        </p:nvSpPr>
        <p:spPr>
          <a:xfrm>
            <a:off x="692150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"/>
          <p:cNvSpPr/>
          <p:nvPr/>
        </p:nvSpPr>
        <p:spPr>
          <a:xfrm>
            <a:off x="695960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training config</a:t>
            </a:r>
            <a:endParaRPr/>
          </a:p>
        </p:txBody>
      </p:sp>
      <p:sp>
        <p:nvSpPr>
          <p:cNvPr id="72" name=""/>
          <p:cNvSpPr/>
          <p:nvPr/>
        </p:nvSpPr>
        <p:spPr>
          <a:xfrm>
            <a:off x="876935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3" name=""/>
          <p:cNvSpPr/>
          <p:nvPr/>
        </p:nvSpPr>
        <p:spPr>
          <a:xfrm>
            <a:off x="880745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evaluation config</a:t>
            </a:r>
            <a:endParaRPr/>
          </a:p>
        </p:txBody>
      </p:sp>
      <p:sp>
        <p:nvSpPr>
          <p:cNvPr id="74" name=""/>
          <p:cNvSpPr/>
          <p:nvPr/>
        </p:nvSpPr>
        <p:spPr>
          <a:xfrm>
            <a:off x="1397000" y="3327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75" name=""/>
          <p:cNvSpPr/>
          <p:nvPr/>
        </p:nvSpPr>
        <p:spPr>
          <a:xfrm>
            <a:off x="1498600" y="3403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76" name=""/>
          <p:cNvSpPr/>
          <p:nvPr/>
        </p:nvSpPr>
        <p:spPr>
          <a:xfrm>
            <a:off x="1498600" y="3441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7" name=""/>
          <p:cNvSpPr/>
          <p:nvPr/>
        </p:nvSpPr>
        <p:spPr>
          <a:xfrm>
            <a:off x="1828800" y="3416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统一数据抽象层</a:t>
            </a:r>
            <a:endParaRPr/>
          </a:p>
        </p:txBody>
      </p:sp>
      <p:sp>
        <p:nvSpPr>
          <p:cNvPr id="78" name=""/>
          <p:cNvSpPr/>
          <p:nvPr/>
        </p:nvSpPr>
        <p:spPr>
          <a:xfrm>
            <a:off x="3225800" y="3403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9" name=""/>
          <p:cNvSpPr/>
          <p:nvPr/>
        </p:nvSpPr>
        <p:spPr>
          <a:xfrm>
            <a:off x="3263900" y="3441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UnifiedDataset 契约</a:t>
            </a:r>
            <a:endParaRPr/>
          </a:p>
        </p:txBody>
      </p:sp>
      <p:sp>
        <p:nvSpPr>
          <p:cNvPr id="80" name=""/>
          <p:cNvSpPr/>
          <p:nvPr/>
        </p:nvSpPr>
        <p:spPr>
          <a:xfrm>
            <a:off x="5073650" y="3403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81" name=""/>
          <p:cNvSpPr/>
          <p:nvPr/>
        </p:nvSpPr>
        <p:spPr>
          <a:xfrm>
            <a:off x="5111750" y="3441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Dataset Schema</a:t>
            </a:r>
            <a:endParaRPr/>
          </a:p>
        </p:txBody>
      </p:sp>
      <p:sp>
        <p:nvSpPr>
          <p:cNvPr id="82" name=""/>
          <p:cNvSpPr/>
          <p:nvPr/>
        </p:nvSpPr>
        <p:spPr>
          <a:xfrm>
            <a:off x="6921500" y="3403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83" name=""/>
          <p:cNvSpPr/>
          <p:nvPr/>
        </p:nvSpPr>
        <p:spPr>
          <a:xfrm>
            <a:off x="6959600" y="3441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Dataset Metadata</a:t>
            </a:r>
            <a:endParaRPr/>
          </a:p>
        </p:txBody>
      </p:sp>
      <p:sp>
        <p:nvSpPr>
          <p:cNvPr id="84" name=""/>
          <p:cNvSpPr/>
          <p:nvPr/>
        </p:nvSpPr>
        <p:spPr>
          <a:xfrm>
            <a:off x="8769350" y="3403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85" name=""/>
          <p:cNvSpPr/>
          <p:nvPr/>
        </p:nvSpPr>
        <p:spPr>
          <a:xfrm>
            <a:off x="8807450" y="3441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Dataset Statistics</a:t>
            </a:r>
            <a:endParaRPr/>
          </a:p>
        </p:txBody>
      </p:sp>
      <p:sp>
        <p:nvSpPr>
          <p:cNvPr id="86" name=""/>
          <p:cNvSpPr/>
          <p:nvPr/>
        </p:nvSpPr>
        <p:spPr>
          <a:xfrm>
            <a:off x="1397000" y="3835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DCFCE7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87" name=""/>
          <p:cNvSpPr/>
          <p:nvPr/>
        </p:nvSpPr>
        <p:spPr>
          <a:xfrm>
            <a:off x="1498600" y="4038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88" name=""/>
          <p:cNvSpPr/>
          <p:nvPr/>
        </p:nvSpPr>
        <p:spPr>
          <a:xfrm>
            <a:off x="1498600" y="4076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89" name=""/>
          <p:cNvSpPr/>
          <p:nvPr/>
        </p:nvSpPr>
        <p:spPr>
          <a:xfrm>
            <a:off x="1828800" y="4051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数据配比算法插件层</a:t>
            </a:r>
            <a:endParaRPr/>
          </a:p>
        </p:txBody>
      </p:sp>
      <p:sp>
        <p:nvSpPr>
          <p:cNvPr id="90" name=""/>
          <p:cNvSpPr/>
          <p:nvPr/>
        </p:nvSpPr>
        <p:spPr>
          <a:xfrm>
            <a:off x="322580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91" name=""/>
          <p:cNvSpPr/>
          <p:nvPr/>
        </p:nvSpPr>
        <p:spPr>
          <a:xfrm>
            <a:off x="326390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QuadMix 插件 (quadmix-core)</a:t>
            </a:r>
            <a:endParaRPr/>
          </a:p>
        </p:txBody>
      </p:sp>
      <p:sp>
        <p:nvSpPr>
          <p:cNvPr id="92" name=""/>
          <p:cNvSpPr/>
          <p:nvPr/>
        </p:nvSpPr>
        <p:spPr>
          <a:xfrm>
            <a:off x="507365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93" name=""/>
          <p:cNvSpPr/>
          <p:nvPr/>
        </p:nvSpPr>
        <p:spPr>
          <a:xfrm>
            <a:off x="511175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Random 插件 (random-core)</a:t>
            </a:r>
            <a:endParaRPr/>
          </a:p>
        </p:txBody>
      </p:sp>
      <p:sp>
        <p:nvSpPr>
          <p:cNvPr id="94" name=""/>
          <p:cNvSpPr/>
          <p:nvPr/>
        </p:nvSpPr>
        <p:spPr>
          <a:xfrm>
            <a:off x="692150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95" name=""/>
          <p:cNvSpPr/>
          <p:nvPr/>
        </p:nvSpPr>
        <p:spPr>
          <a:xfrm>
            <a:off x="695960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Manual Ratio 插件 (manual-core)</a:t>
            </a:r>
            <a:endParaRPr/>
          </a:p>
        </p:txBody>
      </p:sp>
      <p:sp>
        <p:nvSpPr>
          <p:cNvPr id="96" name=""/>
          <p:cNvSpPr/>
          <p:nvPr/>
        </p:nvSpPr>
        <p:spPr>
          <a:xfrm>
            <a:off x="876935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97" name=""/>
          <p:cNvSpPr/>
          <p:nvPr/>
        </p:nvSpPr>
        <p:spPr>
          <a:xfrm>
            <a:off x="880745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命令式桥接 (CommandDriven)</a:t>
            </a:r>
            <a:endParaRPr/>
          </a:p>
        </p:txBody>
      </p:sp>
      <p:sp>
        <p:nvSpPr>
          <p:cNvPr id="98" name=""/>
          <p:cNvSpPr/>
          <p:nvPr/>
        </p:nvSpPr>
        <p:spPr>
          <a:xfrm>
            <a:off x="1397000" y="4597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F3E8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99" name=""/>
          <p:cNvSpPr/>
          <p:nvPr/>
        </p:nvSpPr>
        <p:spPr>
          <a:xfrm>
            <a:off x="1498600" y="4800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100" name=""/>
          <p:cNvSpPr/>
          <p:nvPr/>
        </p:nvSpPr>
        <p:spPr>
          <a:xfrm>
            <a:off x="1498600" y="4838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01" name=""/>
          <p:cNvSpPr/>
          <p:nvPr/>
        </p:nvSpPr>
        <p:spPr>
          <a:xfrm>
            <a:off x="1828800" y="4813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训练与验证插件层</a:t>
            </a:r>
            <a:endParaRPr/>
          </a:p>
        </p:txBody>
      </p:sp>
      <p:sp>
        <p:nvSpPr>
          <p:cNvPr id="102" name=""/>
          <p:cNvSpPr/>
          <p:nvPr/>
        </p:nvSpPr>
        <p:spPr>
          <a:xfrm>
            <a:off x="3225800" y="4673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03" name=""/>
          <p:cNvSpPr/>
          <p:nvPr/>
        </p:nvSpPr>
        <p:spPr>
          <a:xfrm>
            <a:off x="3263900" y="4838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NanoChat Trainer (nanochat-core)</a:t>
            </a:r>
            <a:endParaRPr/>
          </a:p>
        </p:txBody>
      </p:sp>
      <p:sp>
        <p:nvSpPr>
          <p:cNvPr id="104" name=""/>
          <p:cNvSpPr/>
          <p:nvPr/>
        </p:nvSpPr>
        <p:spPr>
          <a:xfrm>
            <a:off x="5073650" y="4673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05" name=""/>
          <p:cNvSpPr/>
          <p:nvPr/>
        </p:nvSpPr>
        <p:spPr>
          <a:xfrm>
            <a:off x="5111750" y="4838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Trainer/Evaluator 契约</a:t>
            </a:r>
            <a:endParaRPr/>
          </a:p>
        </p:txBody>
      </p:sp>
      <p:sp>
        <p:nvSpPr>
          <p:cNvPr id="106" name=""/>
          <p:cNvSpPr/>
          <p:nvPr/>
        </p:nvSpPr>
        <p:spPr>
          <a:xfrm>
            <a:off x="6921500" y="4673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07" name=""/>
          <p:cNvSpPr/>
          <p:nvPr/>
        </p:nvSpPr>
        <p:spPr>
          <a:xfrm>
            <a:off x="6959600" y="4838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STEM Eval (stem-core)</a:t>
            </a:r>
            <a:endParaRPr/>
          </a:p>
        </p:txBody>
      </p:sp>
      <p:sp>
        <p:nvSpPr>
          <p:cNvPr id="108" name=""/>
          <p:cNvSpPr/>
          <p:nvPr/>
        </p:nvSpPr>
        <p:spPr>
          <a:xfrm>
            <a:off x="8769350" y="4673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09" name=""/>
          <p:cNvSpPr/>
          <p:nvPr/>
        </p:nvSpPr>
        <p:spPr>
          <a:xfrm>
            <a:off x="8807450" y="4838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自定义Eval</a:t>
            </a:r>
            <a:endParaRPr/>
          </a:p>
        </p:txBody>
      </p:sp>
      <p:sp>
        <p:nvSpPr>
          <p:cNvPr id="110" name=""/>
          <p:cNvSpPr/>
          <p:nvPr/>
        </p:nvSpPr>
        <p:spPr>
          <a:xfrm>
            <a:off x="1397000" y="5359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FEF3C7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11" name=""/>
          <p:cNvSpPr/>
          <p:nvPr/>
        </p:nvSpPr>
        <p:spPr>
          <a:xfrm>
            <a:off x="1498600" y="5435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112" name=""/>
          <p:cNvSpPr/>
          <p:nvPr/>
        </p:nvSpPr>
        <p:spPr>
          <a:xfrm>
            <a:off x="1498600" y="5473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13" name=""/>
          <p:cNvSpPr/>
          <p:nvPr/>
        </p:nvSpPr>
        <p:spPr>
          <a:xfrm>
            <a:off x="1828800" y="5448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分布式执行与集群层</a:t>
            </a:r>
            <a:endParaRPr/>
          </a:p>
        </p:txBody>
      </p:sp>
      <p:sp>
        <p:nvSpPr>
          <p:cNvPr id="114" name=""/>
          <p:cNvSpPr/>
          <p:nvPr/>
        </p:nvSpPr>
        <p:spPr>
          <a:xfrm>
            <a:off x="3225800" y="5435600"/>
            <a:ext cx="140208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15" name=""/>
          <p:cNvSpPr/>
          <p:nvPr/>
        </p:nvSpPr>
        <p:spPr>
          <a:xfrm>
            <a:off x="3263900" y="5473700"/>
            <a:ext cx="132588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高性能集群API</a:t>
            </a:r>
            <a:endParaRPr/>
          </a:p>
        </p:txBody>
      </p:sp>
      <p:sp>
        <p:nvSpPr>
          <p:cNvPr id="116" name=""/>
          <p:cNvSpPr/>
          <p:nvPr/>
        </p:nvSpPr>
        <p:spPr>
          <a:xfrm>
            <a:off x="4704080" y="5435600"/>
            <a:ext cx="140208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17" name=""/>
          <p:cNvSpPr/>
          <p:nvPr/>
        </p:nvSpPr>
        <p:spPr>
          <a:xfrm>
            <a:off x="4742180" y="5473700"/>
            <a:ext cx="132588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Slurm</a:t>
            </a:r>
            <a:endParaRPr/>
          </a:p>
        </p:txBody>
      </p:sp>
      <p:sp>
        <p:nvSpPr>
          <p:cNvPr id="118" name=""/>
          <p:cNvSpPr/>
          <p:nvPr/>
        </p:nvSpPr>
        <p:spPr>
          <a:xfrm>
            <a:off x="6182360" y="5435600"/>
            <a:ext cx="140208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19" name=""/>
          <p:cNvSpPr/>
          <p:nvPr/>
        </p:nvSpPr>
        <p:spPr>
          <a:xfrm>
            <a:off x="6220460" y="5473700"/>
            <a:ext cx="132588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Kubernetes</a:t>
            </a:r>
            <a:endParaRPr/>
          </a:p>
        </p:txBody>
      </p:sp>
      <p:sp>
        <p:nvSpPr>
          <p:cNvPr id="120" name=""/>
          <p:cNvSpPr/>
          <p:nvPr/>
        </p:nvSpPr>
        <p:spPr>
          <a:xfrm>
            <a:off x="7660640" y="5435600"/>
            <a:ext cx="140208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1" name=""/>
          <p:cNvSpPr/>
          <p:nvPr/>
        </p:nvSpPr>
        <p:spPr>
          <a:xfrm>
            <a:off x="7698740" y="5473700"/>
            <a:ext cx="132588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GPU/NPU资源调度</a:t>
            </a:r>
            <a:endParaRPr/>
          </a:p>
        </p:txBody>
      </p:sp>
      <p:sp>
        <p:nvSpPr>
          <p:cNvPr id="122" name=""/>
          <p:cNvSpPr/>
          <p:nvPr/>
        </p:nvSpPr>
        <p:spPr>
          <a:xfrm>
            <a:off x="9138920" y="5435600"/>
            <a:ext cx="140208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3" name=""/>
          <p:cNvSpPr/>
          <p:nvPr/>
        </p:nvSpPr>
        <p:spPr>
          <a:xfrm>
            <a:off x="9177020" y="5473700"/>
            <a:ext cx="132588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远程训练任务</a:t>
            </a:r>
            <a:endParaRPr/>
          </a:p>
        </p:txBody>
      </p:sp>
      <p:sp>
        <p:nvSpPr>
          <p:cNvPr id="124" name=""/>
          <p:cNvSpPr/>
          <p:nvPr/>
        </p:nvSpPr>
        <p:spPr>
          <a:xfrm>
            <a:off x="1397000" y="5867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FEE2E2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25" name=""/>
          <p:cNvSpPr/>
          <p:nvPr/>
        </p:nvSpPr>
        <p:spPr>
          <a:xfrm>
            <a:off x="1498600" y="6070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126" name=""/>
          <p:cNvSpPr/>
          <p:nvPr/>
        </p:nvSpPr>
        <p:spPr>
          <a:xfrm>
            <a:off x="1498600" y="6108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127" name=""/>
          <p:cNvSpPr/>
          <p:nvPr/>
        </p:nvSpPr>
        <p:spPr>
          <a:xfrm>
            <a:off x="1828800" y="6083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结果分析与实验管理层</a:t>
            </a:r>
            <a:endParaRPr/>
          </a:p>
        </p:txBody>
      </p:sp>
      <p:sp>
        <p:nvSpPr>
          <p:cNvPr id="128" name=""/>
          <p:cNvSpPr/>
          <p:nvPr/>
        </p:nvSpPr>
        <p:spPr>
          <a:xfrm>
            <a:off x="32258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9" name=""/>
          <p:cNvSpPr/>
          <p:nvPr/>
        </p:nvSpPr>
        <p:spPr>
          <a:xfrm>
            <a:off x="32639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loss曲线</a:t>
            </a:r>
            <a:endParaRPr/>
          </a:p>
        </p:txBody>
      </p:sp>
      <p:sp>
        <p:nvSpPr>
          <p:cNvPr id="130" name=""/>
          <p:cNvSpPr/>
          <p:nvPr/>
        </p:nvSpPr>
        <p:spPr>
          <a:xfrm>
            <a:off x="44577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1" name=""/>
          <p:cNvSpPr/>
          <p:nvPr/>
        </p:nvSpPr>
        <p:spPr>
          <a:xfrm>
            <a:off x="44958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STEM分数</a:t>
            </a:r>
            <a:endParaRPr/>
          </a:p>
        </p:txBody>
      </p:sp>
      <p:sp>
        <p:nvSpPr>
          <p:cNvPr id="132" name=""/>
          <p:cNvSpPr/>
          <p:nvPr/>
        </p:nvSpPr>
        <p:spPr>
          <a:xfrm>
            <a:off x="56896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3" name=""/>
          <p:cNvSpPr/>
          <p:nvPr/>
        </p:nvSpPr>
        <p:spPr>
          <a:xfrm>
            <a:off x="57277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多样性分析</a:t>
            </a:r>
            <a:endParaRPr/>
          </a:p>
        </p:txBody>
      </p:sp>
      <p:sp>
        <p:nvSpPr>
          <p:cNvPr id="134" name=""/>
          <p:cNvSpPr/>
          <p:nvPr/>
        </p:nvSpPr>
        <p:spPr>
          <a:xfrm>
            <a:off x="69215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5" name=""/>
          <p:cNvSpPr/>
          <p:nvPr/>
        </p:nvSpPr>
        <p:spPr>
          <a:xfrm>
            <a:off x="69596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质量分布</a:t>
            </a:r>
            <a:endParaRPr/>
          </a:p>
        </p:txBody>
      </p:sp>
      <p:sp>
        <p:nvSpPr>
          <p:cNvPr id="136" name=""/>
          <p:cNvSpPr/>
          <p:nvPr/>
        </p:nvSpPr>
        <p:spPr>
          <a:xfrm>
            <a:off x="81534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"/>
          <p:cNvSpPr/>
          <p:nvPr/>
        </p:nvSpPr>
        <p:spPr>
          <a:xfrm>
            <a:off x="81915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消融对比</a:t>
            </a:r>
            <a:endParaRPr/>
          </a:p>
        </p:txBody>
      </p:sp>
      <p:sp>
        <p:nvSpPr>
          <p:cNvPr id="138" name=""/>
          <p:cNvSpPr/>
          <p:nvPr/>
        </p:nvSpPr>
        <p:spPr>
          <a:xfrm>
            <a:off x="93853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9" name=""/>
          <p:cNvSpPr/>
          <p:nvPr/>
        </p:nvSpPr>
        <p:spPr>
          <a:xfrm>
            <a:off x="94234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实验报告</a:t>
            </a:r>
            <a:endParaRPr/>
          </a:p>
        </p:txBody>
      </p:sp>
      <p:sp>
        <p:nvSpPr>
          <p:cNvPr id="140" name=""/>
          <p:cNvSpPr/>
          <p:nvPr/>
        </p:nvSpPr>
        <p:spPr>
          <a:xfrm>
            <a:off x="6032500" y="1511300"/>
            <a:ext cx="0" cy="38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1" name=""/>
          <p:cNvSpPr/>
          <p:nvPr/>
        </p:nvSpPr>
        <p:spPr>
          <a:xfrm>
            <a:off x="6032500" y="198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2" name=""/>
          <p:cNvSpPr/>
          <p:nvPr/>
        </p:nvSpPr>
        <p:spPr>
          <a:xfrm>
            <a:off x="6032500" y="2743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3" name=""/>
          <p:cNvSpPr/>
          <p:nvPr/>
        </p:nvSpPr>
        <p:spPr>
          <a:xfrm>
            <a:off x="6032500" y="325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4" name=""/>
          <p:cNvSpPr/>
          <p:nvPr/>
        </p:nvSpPr>
        <p:spPr>
          <a:xfrm>
            <a:off x="6032500" y="3759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5" name=""/>
          <p:cNvSpPr/>
          <p:nvPr/>
        </p:nvSpPr>
        <p:spPr>
          <a:xfrm>
            <a:off x="6032500" y="452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6" name=""/>
          <p:cNvSpPr/>
          <p:nvPr/>
        </p:nvSpPr>
        <p:spPr>
          <a:xfrm>
            <a:off x="6032500" y="5283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7" name=""/>
          <p:cNvSpPr/>
          <p:nvPr/>
        </p:nvSpPr>
        <p:spPr>
          <a:xfrm>
            <a:off x="6032500" y="579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8" name=""/>
          <p:cNvSpPr/>
          <p:nvPr/>
        </p:nvSpPr>
        <p:spPr>
          <a:xfrm>
            <a:off x="10820400" y="1803400"/>
            <a:ext cx="1244600" cy="1016000"/>
          </a:xfrm>
          <a:prstGeom prst="roundRect">
            <a:avLst>
              <a:gd name="adj" fmla="val 4376"/>
            </a:avLst>
          </a:prstGeom>
          <a:solidFill>
            <a:srgbClr val="FEF3C7"/>
          </a:solidFill>
          <a:ln w="19050">
            <a:solidFill>
              <a:srgbClr val="92400E"/>
            </a:solidFill>
            <a:prstDash val="solid"/>
          </a:ln>
        </p:spPr>
        <p:txBody>
          <a:bodyPr/>
          <a:p/>
        </p:txBody>
      </p:sp>
      <p:sp>
        <p:nvSpPr>
          <p:cNvPr id="149" name=""/>
          <p:cNvSpPr/>
          <p:nvPr/>
        </p:nvSpPr>
        <p:spPr>
          <a:xfrm>
            <a:off x="10896600" y="19050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92400E"/>
                </a:solidFill>
                <a:latin typeface="Microsoft YaHei"/>
                <a:ea typeface="Microsoft YaHei"/>
              </a:rPr>
              <a:t>先校验，
再运行</a:t>
            </a:r>
            <a:endParaRPr/>
          </a:p>
        </p:txBody>
      </p:sp>
      <p:sp>
        <p:nvSpPr>
          <p:cNvPr id="150" name=""/>
          <p:cNvSpPr/>
          <p:nvPr/>
        </p:nvSpPr>
        <p:spPr>
          <a:xfrm>
            <a:off x="10896600" y="2209800"/>
            <a:ext cx="10922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保障数据质量
降低运行风险</a:t>
            </a:r>
            <a:endParaRPr/>
          </a:p>
        </p:txBody>
      </p:sp>
      <p:sp>
        <p:nvSpPr>
          <p:cNvPr id="151" name=""/>
          <p:cNvSpPr/>
          <p:nvPr/>
        </p:nvSpPr>
        <p:spPr>
          <a:xfrm>
            <a:off x="10820400" y="3073400"/>
            <a:ext cx="1244600" cy="1016000"/>
          </a:xfrm>
          <a:prstGeom prst="roundRect">
            <a:avLst>
              <a:gd name="adj" fmla="val 4376"/>
            </a:avLst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  <p:txBody>
          <a:bodyPr/>
          <a:p/>
        </p:txBody>
      </p:sp>
      <p:sp>
        <p:nvSpPr>
          <p:cNvPr id="152" name=""/>
          <p:cNvSpPr/>
          <p:nvPr/>
        </p:nvSpPr>
        <p:spPr>
          <a:xfrm>
            <a:off x="10896600" y="31750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66534"/>
                </a:solidFill>
                <a:latin typeface="Microsoft YaHei"/>
                <a:ea typeface="Microsoft YaHei"/>
              </a:rPr>
              <a:t>算法模块
可替换</a:t>
            </a:r>
            <a:endParaRPr/>
          </a:p>
        </p:txBody>
      </p:sp>
      <p:sp>
        <p:nvSpPr>
          <p:cNvPr id="153" name=""/>
          <p:cNvSpPr/>
          <p:nvPr/>
        </p:nvSpPr>
        <p:spPr>
          <a:xfrm>
            <a:off x="10896600" y="3479800"/>
            <a:ext cx="10922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66534"/>
                </a:solidFill>
                <a:latin typeface="Microsoft YaHei"/>
                <a:ea typeface="Microsoft YaHei"/>
              </a:rPr>
              <a:t>遵循统一接口
轻松扩展新算法</a:t>
            </a:r>
            <a:endParaRPr/>
          </a:p>
        </p:txBody>
      </p:sp>
      <p:sp>
        <p:nvSpPr>
          <p:cNvPr id="154" name=""/>
          <p:cNvSpPr/>
          <p:nvPr/>
        </p:nvSpPr>
        <p:spPr>
          <a:xfrm>
            <a:off x="10820400" y="4343400"/>
            <a:ext cx="1244600" cy="1016000"/>
          </a:xfrm>
          <a:prstGeom prst="roundRect">
            <a:avLst>
              <a:gd name="adj" fmla="val 4376"/>
            </a:avLst>
          </a:prstGeom>
          <a:solidFill>
            <a:srgbClr val="F3E8FF"/>
          </a:solidFill>
          <a:ln w="19050">
            <a:solidFill>
              <a:srgbClr val="6B21A8"/>
            </a:solidFill>
            <a:prstDash val="solid"/>
          </a:ln>
        </p:spPr>
        <p:txBody>
          <a:bodyPr/>
          <a:p/>
        </p:txBody>
      </p:sp>
      <p:sp>
        <p:nvSpPr>
          <p:cNvPr id="155" name=""/>
          <p:cNvSpPr/>
          <p:nvPr/>
        </p:nvSpPr>
        <p:spPr>
          <a:xfrm>
            <a:off x="10896600" y="44450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6B21A8"/>
                </a:solidFill>
                <a:latin typeface="Microsoft YaHei"/>
                <a:ea typeface="Microsoft YaHei"/>
              </a:rPr>
              <a:t>验证方法
可切换</a:t>
            </a:r>
            <a:endParaRPr/>
          </a:p>
        </p:txBody>
      </p:sp>
      <p:sp>
        <p:nvSpPr>
          <p:cNvPr id="156" name=""/>
          <p:cNvSpPr/>
          <p:nvPr/>
        </p:nvSpPr>
        <p:spPr>
          <a:xfrm>
            <a:off x="10896600" y="4749800"/>
            <a:ext cx="10922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B21A8"/>
                </a:solidFill>
                <a:latin typeface="Microsoft YaHei"/>
                <a:ea typeface="Microsoft YaHei"/>
              </a:rPr>
              <a:t>评测插件化
按需选择最佳方案</a:t>
            </a:r>
            <a:endParaRPr/>
          </a:p>
        </p:txBody>
      </p:sp>
      <p:sp>
        <p:nvSpPr>
          <p:cNvPr id="157" name=""/>
          <p:cNvSpPr/>
          <p:nvPr/>
        </p:nvSpPr>
        <p:spPr>
          <a:xfrm>
            <a:off x="10820400" y="6324600"/>
            <a:ext cx="12446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图例 — 数据流/控制流</a:t>
            </a:r>
            <a:endParaRPr/>
          </a:p>
        </p:txBody>
      </p:sp>
      <p:sp>
        <p:nvSpPr>
          <p:cNvPr id="158" name=""/>
          <p:cNvSpPr/>
          <p:nvPr/>
        </p:nvSpPr>
        <p:spPr>
          <a:xfrm>
            <a:off x="11963400" y="6451600"/>
            <a:ext cx="381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9" name=""/>
          <p:cNvSpPr/>
          <p:nvPr/>
        </p:nvSpPr>
        <p:spPr>
          <a:xfrm>
            <a:off x="11963400" y="6604000"/>
            <a:ext cx="381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0" name=""/>
          <p:cNvSpPr/>
          <p:nvPr/>
        </p:nvSpPr>
        <p:spPr>
          <a:xfrm>
            <a:off x="12395200" y="6350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实线 = 数据流</a:t>
            </a:r>
            <a:endParaRPr/>
          </a:p>
        </p:txBody>
      </p:sp>
      <p:sp>
        <p:nvSpPr>
          <p:cNvPr id="161" name=""/>
          <p:cNvSpPr/>
          <p:nvPr/>
        </p:nvSpPr>
        <p:spPr>
          <a:xfrm>
            <a:off x="123952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虚线 = 依赖关系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254000" y="127000"/>
            <a:ext cx="1168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200">
                <a:solidFill>
                  <a:srgbClr val="1E3A8A"/>
                </a:solidFill>
                <a:latin typeface="Microsoft YaHei"/>
                <a:ea typeface="Microsoft YaHei"/>
              </a:rPr>
              <a:t>QuadMix 工具化重构模块框架图</a:t>
            </a:r>
            <a:endParaRPr/>
          </a:p>
        </p:txBody>
      </p:sp>
      <p:sp>
        <p:nvSpPr>
          <p:cNvPr id="164" name=""/>
          <p:cNvSpPr/>
          <p:nvPr/>
        </p:nvSpPr>
        <p:spPr>
          <a:xfrm>
            <a:off x="254000" y="609600"/>
            <a:ext cx="1168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面向数据配比算法、训练验证与集群调度的可插拔平台</a:t>
            </a:r>
            <a:endParaRPr/>
          </a:p>
        </p:txBody>
      </p:sp>
      <p:sp>
        <p:nvSpPr>
          <p:cNvPr id="165" name=""/>
          <p:cNvSpPr/>
          <p:nvPr/>
        </p:nvSpPr>
        <p:spPr>
          <a:xfrm>
            <a:off x="127000" y="1041400"/>
            <a:ext cx="1143000" cy="5689600"/>
          </a:xfrm>
          <a:prstGeom prst="roundRect">
            <a:avLst>
              <a:gd name="adj" fmla="val 437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66" name=""/>
          <p:cNvSpPr/>
          <p:nvPr/>
        </p:nvSpPr>
        <p:spPr>
          <a:xfrm>
            <a:off x="127000" y="11176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E3A8A"/>
                </a:solidFill>
                <a:latin typeface="Microsoft YaHei"/>
                <a:ea typeface="Microsoft YaHei"/>
              </a:rPr>
              <a:t>数据流说明</a:t>
            </a:r>
            <a:endParaRPr/>
          </a:p>
        </p:txBody>
      </p:sp>
      <p:sp>
        <p:nvSpPr>
          <p:cNvPr id="167" name=""/>
          <p:cNvSpPr/>
          <p:nvPr/>
        </p:nvSpPr>
        <p:spPr>
          <a:xfrm>
            <a:off x="254000" y="14986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68" name=""/>
          <p:cNvSpPr/>
          <p:nvPr/>
        </p:nvSpPr>
        <p:spPr>
          <a:xfrm>
            <a:off x="254000" y="16002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FFFFFF"/>
                </a:solidFill>
                <a:latin typeface="Microsoft YaHei"/>
                <a:ea typeface="Microsoft YaHei"/>
              </a:rPr>
              <a:t>① 上传数据集</a:t>
            </a:r>
            <a:endParaRPr/>
          </a:p>
        </p:txBody>
      </p:sp>
      <p:sp>
        <p:nvSpPr>
          <p:cNvPr id="169" name=""/>
          <p:cNvSpPr/>
          <p:nvPr/>
        </p:nvSpPr>
        <p:spPr>
          <a:xfrm>
            <a:off x="254000" y="21590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70" name=""/>
          <p:cNvSpPr/>
          <p:nvPr/>
        </p:nvSpPr>
        <p:spPr>
          <a:xfrm>
            <a:off x="254000" y="22606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② 数据校验</a:t>
            </a:r>
            <a:endParaRPr/>
          </a:p>
        </p:txBody>
      </p:sp>
      <p:sp>
        <p:nvSpPr>
          <p:cNvPr id="171" name=""/>
          <p:cNvSpPr/>
          <p:nvPr/>
        </p:nvSpPr>
        <p:spPr>
          <a:xfrm>
            <a:off x="254000" y="28194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72" name=""/>
          <p:cNvSpPr/>
          <p:nvPr/>
        </p:nvSpPr>
        <p:spPr>
          <a:xfrm>
            <a:off x="254000" y="29210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③ 统一数据接口</a:t>
            </a:r>
            <a:endParaRPr/>
          </a:p>
        </p:txBody>
      </p:sp>
      <p:sp>
        <p:nvSpPr>
          <p:cNvPr id="173" name=""/>
          <p:cNvSpPr/>
          <p:nvPr/>
        </p:nvSpPr>
        <p:spPr>
          <a:xfrm>
            <a:off x="254000" y="34798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74" name=""/>
          <p:cNvSpPr/>
          <p:nvPr/>
        </p:nvSpPr>
        <p:spPr>
          <a:xfrm>
            <a:off x="254000" y="35814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④ 配比算法选择</a:t>
            </a:r>
            <a:endParaRPr/>
          </a:p>
        </p:txBody>
      </p:sp>
      <p:sp>
        <p:nvSpPr>
          <p:cNvPr id="175" name=""/>
          <p:cNvSpPr/>
          <p:nvPr/>
        </p:nvSpPr>
        <p:spPr>
          <a:xfrm>
            <a:off x="254000" y="41402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76" name=""/>
          <p:cNvSpPr/>
          <p:nvPr/>
        </p:nvSpPr>
        <p:spPr>
          <a:xfrm>
            <a:off x="254000" y="42418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⑤ 训练</a:t>
            </a:r>
            <a:endParaRPr/>
          </a:p>
        </p:txBody>
      </p:sp>
      <p:sp>
        <p:nvSpPr>
          <p:cNvPr id="177" name=""/>
          <p:cNvSpPr/>
          <p:nvPr/>
        </p:nvSpPr>
        <p:spPr>
          <a:xfrm>
            <a:off x="254000" y="48006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78" name=""/>
          <p:cNvSpPr/>
          <p:nvPr/>
        </p:nvSpPr>
        <p:spPr>
          <a:xfrm>
            <a:off x="254000" y="49022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⑥ 验证</a:t>
            </a:r>
            <a:endParaRPr/>
          </a:p>
        </p:txBody>
      </p:sp>
      <p:sp>
        <p:nvSpPr>
          <p:cNvPr id="179" name=""/>
          <p:cNvSpPr/>
          <p:nvPr/>
        </p:nvSpPr>
        <p:spPr>
          <a:xfrm>
            <a:off x="254000" y="5461000"/>
            <a:ext cx="8890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80" name=""/>
          <p:cNvSpPr/>
          <p:nvPr/>
        </p:nvSpPr>
        <p:spPr>
          <a:xfrm>
            <a:off x="254000" y="55626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E293B"/>
                </a:solidFill>
                <a:latin typeface="Microsoft YaHei"/>
                <a:ea typeface="Microsoft YaHei"/>
              </a:rPr>
              <a:t>⑦ 结果分析</a:t>
            </a:r>
            <a:endParaRPr/>
          </a:p>
        </p:txBody>
      </p:sp>
      <p:sp>
        <p:nvSpPr>
          <p:cNvPr id="181" name=""/>
          <p:cNvSpPr/>
          <p:nvPr/>
        </p:nvSpPr>
        <p:spPr>
          <a:xfrm>
            <a:off x="1397000" y="1041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82" name=""/>
          <p:cNvSpPr/>
          <p:nvPr/>
        </p:nvSpPr>
        <p:spPr>
          <a:xfrm>
            <a:off x="1498600" y="1117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183" name=""/>
          <p:cNvSpPr/>
          <p:nvPr/>
        </p:nvSpPr>
        <p:spPr>
          <a:xfrm>
            <a:off x="1498600" y="1155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84" name=""/>
          <p:cNvSpPr/>
          <p:nvPr/>
        </p:nvSpPr>
        <p:spPr>
          <a:xfrm>
            <a:off x="1828800" y="1130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用户接口层</a:t>
            </a:r>
            <a:endParaRPr/>
          </a:p>
        </p:txBody>
      </p:sp>
      <p:sp>
        <p:nvSpPr>
          <p:cNvPr id="185" name=""/>
          <p:cNvSpPr/>
          <p:nvPr/>
        </p:nvSpPr>
        <p:spPr>
          <a:xfrm>
            <a:off x="3225800" y="1117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6" name=""/>
          <p:cNvSpPr/>
          <p:nvPr/>
        </p:nvSpPr>
        <p:spPr>
          <a:xfrm>
            <a:off x="3263900" y="1155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CLI</a:t>
            </a:r>
            <a:endParaRPr/>
          </a:p>
        </p:txBody>
      </p:sp>
      <p:sp>
        <p:nvSpPr>
          <p:cNvPr id="187" name=""/>
          <p:cNvSpPr/>
          <p:nvPr/>
        </p:nvSpPr>
        <p:spPr>
          <a:xfrm>
            <a:off x="5073650" y="1117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8" name=""/>
          <p:cNvSpPr/>
          <p:nvPr/>
        </p:nvSpPr>
        <p:spPr>
          <a:xfrm>
            <a:off x="5111750" y="1155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API</a:t>
            </a:r>
            <a:endParaRPr/>
          </a:p>
        </p:txBody>
      </p:sp>
      <p:sp>
        <p:nvSpPr>
          <p:cNvPr id="189" name=""/>
          <p:cNvSpPr/>
          <p:nvPr/>
        </p:nvSpPr>
        <p:spPr>
          <a:xfrm>
            <a:off x="6921500" y="1117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0" name=""/>
          <p:cNvSpPr/>
          <p:nvPr/>
        </p:nvSpPr>
        <p:spPr>
          <a:xfrm>
            <a:off x="6959600" y="1155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YAML配置</a:t>
            </a:r>
            <a:endParaRPr/>
          </a:p>
        </p:txBody>
      </p:sp>
      <p:sp>
        <p:nvSpPr>
          <p:cNvPr id="191" name=""/>
          <p:cNvSpPr/>
          <p:nvPr/>
        </p:nvSpPr>
        <p:spPr>
          <a:xfrm>
            <a:off x="8769350" y="1117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2" name=""/>
          <p:cNvSpPr/>
          <p:nvPr/>
        </p:nvSpPr>
        <p:spPr>
          <a:xfrm>
            <a:off x="8807450" y="1155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Web/服务接口</a:t>
            </a:r>
            <a:endParaRPr/>
          </a:p>
        </p:txBody>
      </p:sp>
      <p:sp>
        <p:nvSpPr>
          <p:cNvPr id="193" name=""/>
          <p:cNvSpPr/>
          <p:nvPr/>
        </p:nvSpPr>
        <p:spPr>
          <a:xfrm>
            <a:off x="1397000" y="1549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94" name=""/>
          <p:cNvSpPr/>
          <p:nvPr/>
        </p:nvSpPr>
        <p:spPr>
          <a:xfrm>
            <a:off x="1498600" y="1625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195" name=""/>
          <p:cNvSpPr/>
          <p:nvPr/>
        </p:nvSpPr>
        <p:spPr>
          <a:xfrm>
            <a:off x="1498600" y="1663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96" name=""/>
          <p:cNvSpPr/>
          <p:nvPr/>
        </p:nvSpPr>
        <p:spPr>
          <a:xfrm>
            <a:off x="1828800" y="1638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实验编排与调度层</a:t>
            </a:r>
            <a:endParaRPr/>
          </a:p>
        </p:txBody>
      </p:sp>
      <p:sp>
        <p:nvSpPr>
          <p:cNvPr id="197" name=""/>
          <p:cNvSpPr/>
          <p:nvPr/>
        </p:nvSpPr>
        <p:spPr>
          <a:xfrm>
            <a:off x="322580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8" name=""/>
          <p:cNvSpPr/>
          <p:nvPr/>
        </p:nvSpPr>
        <p:spPr>
          <a:xfrm>
            <a:off x="326390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Pipeline Manager / CanonicalPipeline</a:t>
            </a:r>
            <a:endParaRPr/>
          </a:p>
        </p:txBody>
      </p:sp>
      <p:sp>
        <p:nvSpPr>
          <p:cNvPr id="199" name=""/>
          <p:cNvSpPr/>
          <p:nvPr/>
        </p:nvSpPr>
        <p:spPr>
          <a:xfrm>
            <a:off x="507365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00" name=""/>
          <p:cNvSpPr/>
          <p:nvPr/>
        </p:nvSpPr>
        <p:spPr>
          <a:xfrm>
            <a:off x="511175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任务编排</a:t>
            </a:r>
            <a:endParaRPr/>
          </a:p>
        </p:txBody>
      </p:sp>
      <p:sp>
        <p:nvSpPr>
          <p:cNvPr id="201" name=""/>
          <p:cNvSpPr/>
          <p:nvPr/>
        </p:nvSpPr>
        <p:spPr>
          <a:xfrm>
            <a:off x="692150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02" name=""/>
          <p:cNvSpPr/>
          <p:nvPr/>
        </p:nvSpPr>
        <p:spPr>
          <a:xfrm>
            <a:off x="695960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日志与检查点</a:t>
            </a:r>
            <a:endParaRPr/>
          </a:p>
        </p:txBody>
      </p:sp>
      <p:sp>
        <p:nvSpPr>
          <p:cNvPr id="203" name=""/>
          <p:cNvSpPr/>
          <p:nvPr/>
        </p:nvSpPr>
        <p:spPr>
          <a:xfrm>
            <a:off x="876935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04" name=""/>
          <p:cNvSpPr/>
          <p:nvPr/>
        </p:nvSpPr>
        <p:spPr>
          <a:xfrm>
            <a:off x="880745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高性能集群任务提交</a:t>
            </a:r>
            <a:endParaRPr/>
          </a:p>
        </p:txBody>
      </p:sp>
      <p:sp>
        <p:nvSpPr>
          <p:cNvPr id="205" name=""/>
          <p:cNvSpPr/>
          <p:nvPr/>
        </p:nvSpPr>
        <p:spPr>
          <a:xfrm>
            <a:off x="1397000" y="2057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D1FAE5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206" name=""/>
          <p:cNvSpPr/>
          <p:nvPr/>
        </p:nvSpPr>
        <p:spPr>
          <a:xfrm>
            <a:off x="1498600" y="2260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207" name=""/>
          <p:cNvSpPr/>
          <p:nvPr/>
        </p:nvSpPr>
        <p:spPr>
          <a:xfrm>
            <a:off x="1498600" y="2298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08" name=""/>
          <p:cNvSpPr/>
          <p:nvPr/>
        </p:nvSpPr>
        <p:spPr>
          <a:xfrm>
            <a:off x="1828800" y="2273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数据检测与验证层</a:t>
            </a:r>
            <a:endParaRPr/>
          </a:p>
        </p:txBody>
      </p:sp>
      <p:sp>
        <p:nvSpPr>
          <p:cNvPr id="209" name=""/>
          <p:cNvSpPr/>
          <p:nvPr/>
        </p:nvSpPr>
        <p:spPr>
          <a:xfrm>
            <a:off x="3225800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10" name=""/>
          <p:cNvSpPr/>
          <p:nvPr/>
        </p:nvSpPr>
        <p:spPr>
          <a:xfrm>
            <a:off x="3263900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上传数据集校验</a:t>
            </a:r>
            <a:endParaRPr/>
          </a:p>
        </p:txBody>
      </p:sp>
      <p:sp>
        <p:nvSpPr>
          <p:cNvPr id="211" name=""/>
          <p:cNvSpPr/>
          <p:nvPr/>
        </p:nvSpPr>
        <p:spPr>
          <a:xfrm>
            <a:off x="4281714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12" name=""/>
          <p:cNvSpPr/>
          <p:nvPr/>
        </p:nvSpPr>
        <p:spPr>
          <a:xfrm>
            <a:off x="4319814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格式校验·可替换</a:t>
            </a:r>
            <a:endParaRPr/>
          </a:p>
        </p:txBody>
      </p:sp>
      <p:sp>
        <p:nvSpPr>
          <p:cNvPr id="213" name=""/>
          <p:cNvSpPr/>
          <p:nvPr/>
        </p:nvSpPr>
        <p:spPr>
          <a:xfrm>
            <a:off x="5337629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14" name=""/>
          <p:cNvSpPr/>
          <p:nvPr/>
        </p:nvSpPr>
        <p:spPr>
          <a:xfrm>
            <a:off x="5375729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列类型检查</a:t>
            </a:r>
            <a:endParaRPr/>
          </a:p>
        </p:txBody>
      </p:sp>
      <p:sp>
        <p:nvSpPr>
          <p:cNvPr id="215" name=""/>
          <p:cNvSpPr/>
          <p:nvPr/>
        </p:nvSpPr>
        <p:spPr>
          <a:xfrm>
            <a:off x="6393543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16" name=""/>
          <p:cNvSpPr/>
          <p:nvPr/>
        </p:nvSpPr>
        <p:spPr>
          <a:xfrm>
            <a:off x="6431643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标签检查</a:t>
            </a:r>
            <a:endParaRPr/>
          </a:p>
        </p:txBody>
      </p:sp>
      <p:sp>
        <p:nvSpPr>
          <p:cNvPr id="217" name=""/>
          <p:cNvSpPr/>
          <p:nvPr/>
        </p:nvSpPr>
        <p:spPr>
          <a:xfrm>
            <a:off x="7449457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18" name=""/>
          <p:cNvSpPr/>
          <p:nvPr/>
        </p:nvSpPr>
        <p:spPr>
          <a:xfrm>
            <a:off x="7487557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编码检查</a:t>
            </a:r>
            <a:endParaRPr/>
          </a:p>
        </p:txBody>
      </p:sp>
      <p:sp>
        <p:nvSpPr>
          <p:cNvPr id="219" name=""/>
          <p:cNvSpPr/>
          <p:nvPr/>
        </p:nvSpPr>
        <p:spPr>
          <a:xfrm>
            <a:off x="8505371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20" name=""/>
          <p:cNvSpPr/>
          <p:nvPr/>
        </p:nvSpPr>
        <p:spPr>
          <a:xfrm>
            <a:off x="8543471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重复文件</a:t>
            </a:r>
            <a:endParaRPr/>
          </a:p>
        </p:txBody>
      </p:sp>
      <p:sp>
        <p:nvSpPr>
          <p:cNvPr id="221" name=""/>
          <p:cNvSpPr/>
          <p:nvPr/>
        </p:nvSpPr>
        <p:spPr>
          <a:xfrm>
            <a:off x="9561286" y="2133600"/>
            <a:ext cx="979714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22" name=""/>
          <p:cNvSpPr/>
          <p:nvPr/>
        </p:nvSpPr>
        <p:spPr>
          <a:xfrm>
            <a:off x="9599386" y="2298700"/>
            <a:ext cx="903514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质量/重复率</a:t>
            </a:r>
            <a:endParaRPr/>
          </a:p>
        </p:txBody>
      </p:sp>
      <p:sp>
        <p:nvSpPr>
          <p:cNvPr id="223" name=""/>
          <p:cNvSpPr/>
          <p:nvPr/>
        </p:nvSpPr>
        <p:spPr>
          <a:xfrm>
            <a:off x="1397000" y="2819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E0F2FE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224" name=""/>
          <p:cNvSpPr/>
          <p:nvPr/>
        </p:nvSpPr>
        <p:spPr>
          <a:xfrm>
            <a:off x="1498600" y="2895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225" name=""/>
          <p:cNvSpPr/>
          <p:nvPr/>
        </p:nvSpPr>
        <p:spPr>
          <a:xfrm>
            <a:off x="1498600" y="2933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26" name=""/>
          <p:cNvSpPr/>
          <p:nvPr/>
        </p:nvSpPr>
        <p:spPr>
          <a:xfrm>
            <a:off x="1828800" y="2908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配置管理层</a:t>
            </a:r>
            <a:endParaRPr/>
          </a:p>
        </p:txBody>
      </p:sp>
      <p:sp>
        <p:nvSpPr>
          <p:cNvPr id="227" name=""/>
          <p:cNvSpPr/>
          <p:nvPr/>
        </p:nvSpPr>
        <p:spPr>
          <a:xfrm>
            <a:off x="322580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28" name=""/>
          <p:cNvSpPr/>
          <p:nvPr/>
        </p:nvSpPr>
        <p:spPr>
          <a:xfrm>
            <a:off x="326390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dataset config</a:t>
            </a:r>
            <a:endParaRPr/>
          </a:p>
        </p:txBody>
      </p:sp>
      <p:sp>
        <p:nvSpPr>
          <p:cNvPr id="229" name=""/>
          <p:cNvSpPr/>
          <p:nvPr/>
        </p:nvSpPr>
        <p:spPr>
          <a:xfrm>
            <a:off x="507365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30" name=""/>
          <p:cNvSpPr/>
          <p:nvPr/>
        </p:nvSpPr>
        <p:spPr>
          <a:xfrm>
            <a:off x="511175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algorithm config</a:t>
            </a:r>
            <a:endParaRPr/>
          </a:p>
        </p:txBody>
      </p:sp>
      <p:sp>
        <p:nvSpPr>
          <p:cNvPr id="231" name=""/>
          <p:cNvSpPr/>
          <p:nvPr/>
        </p:nvSpPr>
        <p:spPr>
          <a:xfrm>
            <a:off x="692150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32" name=""/>
          <p:cNvSpPr/>
          <p:nvPr/>
        </p:nvSpPr>
        <p:spPr>
          <a:xfrm>
            <a:off x="695960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training config</a:t>
            </a:r>
            <a:endParaRPr/>
          </a:p>
        </p:txBody>
      </p:sp>
      <p:sp>
        <p:nvSpPr>
          <p:cNvPr id="233" name=""/>
          <p:cNvSpPr/>
          <p:nvPr/>
        </p:nvSpPr>
        <p:spPr>
          <a:xfrm>
            <a:off x="876935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34" name=""/>
          <p:cNvSpPr/>
          <p:nvPr/>
        </p:nvSpPr>
        <p:spPr>
          <a:xfrm>
            <a:off x="880745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evaluation config</a:t>
            </a:r>
            <a:endParaRPr/>
          </a:p>
        </p:txBody>
      </p:sp>
      <p:sp>
        <p:nvSpPr>
          <p:cNvPr id="235" name=""/>
          <p:cNvSpPr/>
          <p:nvPr/>
        </p:nvSpPr>
        <p:spPr>
          <a:xfrm>
            <a:off x="1397000" y="3327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236" name=""/>
          <p:cNvSpPr/>
          <p:nvPr/>
        </p:nvSpPr>
        <p:spPr>
          <a:xfrm>
            <a:off x="1498600" y="3403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237" name=""/>
          <p:cNvSpPr/>
          <p:nvPr/>
        </p:nvSpPr>
        <p:spPr>
          <a:xfrm>
            <a:off x="1498600" y="3441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38" name=""/>
          <p:cNvSpPr/>
          <p:nvPr/>
        </p:nvSpPr>
        <p:spPr>
          <a:xfrm>
            <a:off x="1828800" y="3416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统一数据抽象层</a:t>
            </a:r>
            <a:endParaRPr/>
          </a:p>
        </p:txBody>
      </p:sp>
      <p:sp>
        <p:nvSpPr>
          <p:cNvPr id="239" name=""/>
          <p:cNvSpPr/>
          <p:nvPr/>
        </p:nvSpPr>
        <p:spPr>
          <a:xfrm>
            <a:off x="3225800" y="3403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40" name=""/>
          <p:cNvSpPr/>
          <p:nvPr/>
        </p:nvSpPr>
        <p:spPr>
          <a:xfrm>
            <a:off x="3263900" y="3441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UnifiedDataset 契约</a:t>
            </a:r>
            <a:endParaRPr/>
          </a:p>
        </p:txBody>
      </p:sp>
      <p:sp>
        <p:nvSpPr>
          <p:cNvPr id="241" name=""/>
          <p:cNvSpPr/>
          <p:nvPr/>
        </p:nvSpPr>
        <p:spPr>
          <a:xfrm>
            <a:off x="5073650" y="3403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42" name=""/>
          <p:cNvSpPr/>
          <p:nvPr/>
        </p:nvSpPr>
        <p:spPr>
          <a:xfrm>
            <a:off x="5111750" y="3441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Dataset Schema</a:t>
            </a:r>
            <a:endParaRPr/>
          </a:p>
        </p:txBody>
      </p:sp>
      <p:sp>
        <p:nvSpPr>
          <p:cNvPr id="243" name=""/>
          <p:cNvSpPr/>
          <p:nvPr/>
        </p:nvSpPr>
        <p:spPr>
          <a:xfrm>
            <a:off x="6921500" y="3403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44" name=""/>
          <p:cNvSpPr/>
          <p:nvPr/>
        </p:nvSpPr>
        <p:spPr>
          <a:xfrm>
            <a:off x="6959600" y="3441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Dataset Metadata</a:t>
            </a:r>
            <a:endParaRPr/>
          </a:p>
        </p:txBody>
      </p:sp>
      <p:sp>
        <p:nvSpPr>
          <p:cNvPr id="245" name=""/>
          <p:cNvSpPr/>
          <p:nvPr/>
        </p:nvSpPr>
        <p:spPr>
          <a:xfrm>
            <a:off x="8769350" y="3403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46" name=""/>
          <p:cNvSpPr/>
          <p:nvPr/>
        </p:nvSpPr>
        <p:spPr>
          <a:xfrm>
            <a:off x="8807450" y="3441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Dataset Statistics</a:t>
            </a:r>
            <a:endParaRPr/>
          </a:p>
        </p:txBody>
      </p:sp>
      <p:sp>
        <p:nvSpPr>
          <p:cNvPr id="247" name=""/>
          <p:cNvSpPr/>
          <p:nvPr/>
        </p:nvSpPr>
        <p:spPr>
          <a:xfrm>
            <a:off x="1397000" y="3835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DCFCE7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248" name=""/>
          <p:cNvSpPr/>
          <p:nvPr/>
        </p:nvSpPr>
        <p:spPr>
          <a:xfrm>
            <a:off x="1498600" y="4038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249" name=""/>
          <p:cNvSpPr/>
          <p:nvPr/>
        </p:nvSpPr>
        <p:spPr>
          <a:xfrm>
            <a:off x="1498600" y="4076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250" name=""/>
          <p:cNvSpPr/>
          <p:nvPr/>
        </p:nvSpPr>
        <p:spPr>
          <a:xfrm>
            <a:off x="1828800" y="4051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数据配比算法插件层</a:t>
            </a:r>
            <a:endParaRPr/>
          </a:p>
        </p:txBody>
      </p:sp>
      <p:sp>
        <p:nvSpPr>
          <p:cNvPr id="251" name=""/>
          <p:cNvSpPr/>
          <p:nvPr/>
        </p:nvSpPr>
        <p:spPr>
          <a:xfrm>
            <a:off x="322580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52" name=""/>
          <p:cNvSpPr/>
          <p:nvPr/>
        </p:nvSpPr>
        <p:spPr>
          <a:xfrm>
            <a:off x="326390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QuadMix 插件 (quadmix-core)</a:t>
            </a:r>
            <a:endParaRPr/>
          </a:p>
        </p:txBody>
      </p:sp>
      <p:sp>
        <p:nvSpPr>
          <p:cNvPr id="253" name=""/>
          <p:cNvSpPr/>
          <p:nvPr/>
        </p:nvSpPr>
        <p:spPr>
          <a:xfrm>
            <a:off x="507365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54" name=""/>
          <p:cNvSpPr/>
          <p:nvPr/>
        </p:nvSpPr>
        <p:spPr>
          <a:xfrm>
            <a:off x="511175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Random 插件 (random-core)</a:t>
            </a:r>
            <a:endParaRPr/>
          </a:p>
        </p:txBody>
      </p:sp>
      <p:sp>
        <p:nvSpPr>
          <p:cNvPr id="255" name=""/>
          <p:cNvSpPr/>
          <p:nvPr/>
        </p:nvSpPr>
        <p:spPr>
          <a:xfrm>
            <a:off x="692150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56" name=""/>
          <p:cNvSpPr/>
          <p:nvPr/>
        </p:nvSpPr>
        <p:spPr>
          <a:xfrm>
            <a:off x="695960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Manual Ratio 插件 (manual-core)</a:t>
            </a:r>
            <a:endParaRPr/>
          </a:p>
        </p:txBody>
      </p:sp>
      <p:sp>
        <p:nvSpPr>
          <p:cNvPr id="257" name=""/>
          <p:cNvSpPr/>
          <p:nvPr/>
        </p:nvSpPr>
        <p:spPr>
          <a:xfrm>
            <a:off x="876935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58" name=""/>
          <p:cNvSpPr/>
          <p:nvPr/>
        </p:nvSpPr>
        <p:spPr>
          <a:xfrm>
            <a:off x="880745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命令式桥接 (CommandDriven)</a:t>
            </a:r>
            <a:endParaRPr/>
          </a:p>
        </p:txBody>
      </p:sp>
      <p:sp>
        <p:nvSpPr>
          <p:cNvPr id="259" name=""/>
          <p:cNvSpPr/>
          <p:nvPr/>
        </p:nvSpPr>
        <p:spPr>
          <a:xfrm>
            <a:off x="1397000" y="4597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F3E8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260" name=""/>
          <p:cNvSpPr/>
          <p:nvPr/>
        </p:nvSpPr>
        <p:spPr>
          <a:xfrm>
            <a:off x="1498600" y="4800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261" name=""/>
          <p:cNvSpPr/>
          <p:nvPr/>
        </p:nvSpPr>
        <p:spPr>
          <a:xfrm>
            <a:off x="1498600" y="4838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262" name=""/>
          <p:cNvSpPr/>
          <p:nvPr/>
        </p:nvSpPr>
        <p:spPr>
          <a:xfrm>
            <a:off x="1828800" y="4813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训练与验证插件层</a:t>
            </a:r>
            <a:endParaRPr/>
          </a:p>
        </p:txBody>
      </p:sp>
      <p:sp>
        <p:nvSpPr>
          <p:cNvPr id="263" name=""/>
          <p:cNvSpPr/>
          <p:nvPr/>
        </p:nvSpPr>
        <p:spPr>
          <a:xfrm>
            <a:off x="3225800" y="4673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64" name=""/>
          <p:cNvSpPr/>
          <p:nvPr/>
        </p:nvSpPr>
        <p:spPr>
          <a:xfrm>
            <a:off x="3263900" y="4838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NanoChat Trainer (nanochat-core)</a:t>
            </a:r>
            <a:endParaRPr/>
          </a:p>
        </p:txBody>
      </p:sp>
      <p:sp>
        <p:nvSpPr>
          <p:cNvPr id="265" name=""/>
          <p:cNvSpPr/>
          <p:nvPr/>
        </p:nvSpPr>
        <p:spPr>
          <a:xfrm>
            <a:off x="5073650" y="4673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66" name=""/>
          <p:cNvSpPr/>
          <p:nvPr/>
        </p:nvSpPr>
        <p:spPr>
          <a:xfrm>
            <a:off x="5111750" y="4838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Trainer/Evaluator 契约</a:t>
            </a:r>
            <a:endParaRPr/>
          </a:p>
        </p:txBody>
      </p:sp>
      <p:sp>
        <p:nvSpPr>
          <p:cNvPr id="267" name=""/>
          <p:cNvSpPr/>
          <p:nvPr/>
        </p:nvSpPr>
        <p:spPr>
          <a:xfrm>
            <a:off x="6921500" y="4673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68" name=""/>
          <p:cNvSpPr/>
          <p:nvPr/>
        </p:nvSpPr>
        <p:spPr>
          <a:xfrm>
            <a:off x="6959600" y="4838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STEM Eval (stem-core)</a:t>
            </a:r>
            <a:endParaRPr/>
          </a:p>
        </p:txBody>
      </p:sp>
      <p:sp>
        <p:nvSpPr>
          <p:cNvPr id="269" name=""/>
          <p:cNvSpPr/>
          <p:nvPr/>
        </p:nvSpPr>
        <p:spPr>
          <a:xfrm>
            <a:off x="8769350" y="4673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70" name=""/>
          <p:cNvSpPr/>
          <p:nvPr/>
        </p:nvSpPr>
        <p:spPr>
          <a:xfrm>
            <a:off x="8807450" y="4838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自定义Eval</a:t>
            </a:r>
            <a:endParaRPr/>
          </a:p>
        </p:txBody>
      </p:sp>
      <p:sp>
        <p:nvSpPr>
          <p:cNvPr id="271" name=""/>
          <p:cNvSpPr/>
          <p:nvPr/>
        </p:nvSpPr>
        <p:spPr>
          <a:xfrm>
            <a:off x="1397000" y="5359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FEF3C7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272" name=""/>
          <p:cNvSpPr/>
          <p:nvPr/>
        </p:nvSpPr>
        <p:spPr>
          <a:xfrm>
            <a:off x="1498600" y="5435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273" name=""/>
          <p:cNvSpPr/>
          <p:nvPr/>
        </p:nvSpPr>
        <p:spPr>
          <a:xfrm>
            <a:off x="1498600" y="5473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274" name=""/>
          <p:cNvSpPr/>
          <p:nvPr/>
        </p:nvSpPr>
        <p:spPr>
          <a:xfrm>
            <a:off x="1828800" y="5448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分布式执行与集群层</a:t>
            </a:r>
            <a:endParaRPr/>
          </a:p>
        </p:txBody>
      </p:sp>
      <p:sp>
        <p:nvSpPr>
          <p:cNvPr id="275" name=""/>
          <p:cNvSpPr/>
          <p:nvPr/>
        </p:nvSpPr>
        <p:spPr>
          <a:xfrm>
            <a:off x="3225800" y="5435600"/>
            <a:ext cx="140208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76" name=""/>
          <p:cNvSpPr/>
          <p:nvPr/>
        </p:nvSpPr>
        <p:spPr>
          <a:xfrm>
            <a:off x="3263900" y="5473700"/>
            <a:ext cx="132588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高性能集群API</a:t>
            </a:r>
            <a:endParaRPr/>
          </a:p>
        </p:txBody>
      </p:sp>
      <p:sp>
        <p:nvSpPr>
          <p:cNvPr id="277" name=""/>
          <p:cNvSpPr/>
          <p:nvPr/>
        </p:nvSpPr>
        <p:spPr>
          <a:xfrm>
            <a:off x="4704080" y="5435600"/>
            <a:ext cx="140208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78" name=""/>
          <p:cNvSpPr/>
          <p:nvPr/>
        </p:nvSpPr>
        <p:spPr>
          <a:xfrm>
            <a:off x="4742180" y="5473700"/>
            <a:ext cx="132588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Slurm</a:t>
            </a:r>
            <a:endParaRPr/>
          </a:p>
        </p:txBody>
      </p:sp>
      <p:sp>
        <p:nvSpPr>
          <p:cNvPr id="279" name=""/>
          <p:cNvSpPr/>
          <p:nvPr/>
        </p:nvSpPr>
        <p:spPr>
          <a:xfrm>
            <a:off x="6182360" y="5435600"/>
            <a:ext cx="140208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80" name=""/>
          <p:cNvSpPr/>
          <p:nvPr/>
        </p:nvSpPr>
        <p:spPr>
          <a:xfrm>
            <a:off x="6220460" y="5473700"/>
            <a:ext cx="132588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Kubernetes</a:t>
            </a:r>
            <a:endParaRPr/>
          </a:p>
        </p:txBody>
      </p:sp>
      <p:sp>
        <p:nvSpPr>
          <p:cNvPr id="281" name=""/>
          <p:cNvSpPr/>
          <p:nvPr/>
        </p:nvSpPr>
        <p:spPr>
          <a:xfrm>
            <a:off x="7660640" y="5435600"/>
            <a:ext cx="140208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82" name=""/>
          <p:cNvSpPr/>
          <p:nvPr/>
        </p:nvSpPr>
        <p:spPr>
          <a:xfrm>
            <a:off x="7698740" y="5473700"/>
            <a:ext cx="132588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GPU/NPU资源调度</a:t>
            </a:r>
            <a:endParaRPr/>
          </a:p>
        </p:txBody>
      </p:sp>
      <p:sp>
        <p:nvSpPr>
          <p:cNvPr id="283" name=""/>
          <p:cNvSpPr/>
          <p:nvPr/>
        </p:nvSpPr>
        <p:spPr>
          <a:xfrm>
            <a:off x="9138920" y="5435600"/>
            <a:ext cx="140208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84" name=""/>
          <p:cNvSpPr/>
          <p:nvPr/>
        </p:nvSpPr>
        <p:spPr>
          <a:xfrm>
            <a:off x="9177020" y="5473700"/>
            <a:ext cx="132588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远程训练任务</a:t>
            </a:r>
            <a:endParaRPr/>
          </a:p>
        </p:txBody>
      </p:sp>
      <p:sp>
        <p:nvSpPr>
          <p:cNvPr id="285" name=""/>
          <p:cNvSpPr/>
          <p:nvPr/>
        </p:nvSpPr>
        <p:spPr>
          <a:xfrm>
            <a:off x="1397000" y="5867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FEE2E2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286" name=""/>
          <p:cNvSpPr/>
          <p:nvPr/>
        </p:nvSpPr>
        <p:spPr>
          <a:xfrm>
            <a:off x="1498600" y="6070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p/>
        </p:txBody>
      </p:sp>
      <p:sp>
        <p:nvSpPr>
          <p:cNvPr id="287" name=""/>
          <p:cNvSpPr/>
          <p:nvPr/>
        </p:nvSpPr>
        <p:spPr>
          <a:xfrm>
            <a:off x="1498600" y="6108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288" name=""/>
          <p:cNvSpPr/>
          <p:nvPr/>
        </p:nvSpPr>
        <p:spPr>
          <a:xfrm>
            <a:off x="1828800" y="6083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结果分析与实验管理层</a:t>
            </a:r>
            <a:endParaRPr/>
          </a:p>
        </p:txBody>
      </p:sp>
      <p:sp>
        <p:nvSpPr>
          <p:cNvPr id="289" name=""/>
          <p:cNvSpPr/>
          <p:nvPr/>
        </p:nvSpPr>
        <p:spPr>
          <a:xfrm>
            <a:off x="32258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90" name=""/>
          <p:cNvSpPr/>
          <p:nvPr/>
        </p:nvSpPr>
        <p:spPr>
          <a:xfrm>
            <a:off x="32639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loss曲线</a:t>
            </a:r>
            <a:endParaRPr/>
          </a:p>
        </p:txBody>
      </p:sp>
      <p:sp>
        <p:nvSpPr>
          <p:cNvPr id="291" name=""/>
          <p:cNvSpPr/>
          <p:nvPr/>
        </p:nvSpPr>
        <p:spPr>
          <a:xfrm>
            <a:off x="44577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92" name=""/>
          <p:cNvSpPr/>
          <p:nvPr/>
        </p:nvSpPr>
        <p:spPr>
          <a:xfrm>
            <a:off x="44958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STEM分数</a:t>
            </a:r>
            <a:endParaRPr/>
          </a:p>
        </p:txBody>
      </p:sp>
      <p:sp>
        <p:nvSpPr>
          <p:cNvPr id="293" name=""/>
          <p:cNvSpPr/>
          <p:nvPr/>
        </p:nvSpPr>
        <p:spPr>
          <a:xfrm>
            <a:off x="56896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94" name=""/>
          <p:cNvSpPr/>
          <p:nvPr/>
        </p:nvSpPr>
        <p:spPr>
          <a:xfrm>
            <a:off x="57277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多样性分析</a:t>
            </a:r>
            <a:endParaRPr/>
          </a:p>
        </p:txBody>
      </p:sp>
      <p:sp>
        <p:nvSpPr>
          <p:cNvPr id="295" name=""/>
          <p:cNvSpPr/>
          <p:nvPr/>
        </p:nvSpPr>
        <p:spPr>
          <a:xfrm>
            <a:off x="69215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96" name=""/>
          <p:cNvSpPr/>
          <p:nvPr/>
        </p:nvSpPr>
        <p:spPr>
          <a:xfrm>
            <a:off x="69596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质量分布</a:t>
            </a:r>
            <a:endParaRPr/>
          </a:p>
        </p:txBody>
      </p:sp>
      <p:sp>
        <p:nvSpPr>
          <p:cNvPr id="297" name=""/>
          <p:cNvSpPr/>
          <p:nvPr/>
        </p:nvSpPr>
        <p:spPr>
          <a:xfrm>
            <a:off x="81534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98" name=""/>
          <p:cNvSpPr/>
          <p:nvPr/>
        </p:nvSpPr>
        <p:spPr>
          <a:xfrm>
            <a:off x="81915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消融对比</a:t>
            </a:r>
            <a:endParaRPr/>
          </a:p>
        </p:txBody>
      </p:sp>
      <p:sp>
        <p:nvSpPr>
          <p:cNvPr id="299" name=""/>
          <p:cNvSpPr/>
          <p:nvPr/>
        </p:nvSpPr>
        <p:spPr>
          <a:xfrm>
            <a:off x="9385300" y="594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00" name=""/>
          <p:cNvSpPr/>
          <p:nvPr/>
        </p:nvSpPr>
        <p:spPr>
          <a:xfrm>
            <a:off x="9423400" y="610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实验报告</a:t>
            </a:r>
            <a:endParaRPr/>
          </a:p>
        </p:txBody>
      </p:sp>
      <p:sp>
        <p:nvSpPr>
          <p:cNvPr id="301" name=""/>
          <p:cNvSpPr/>
          <p:nvPr/>
        </p:nvSpPr>
        <p:spPr>
          <a:xfrm>
            <a:off x="6032500" y="1511300"/>
            <a:ext cx="0" cy="38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2" name=""/>
          <p:cNvSpPr/>
          <p:nvPr/>
        </p:nvSpPr>
        <p:spPr>
          <a:xfrm>
            <a:off x="6032500" y="198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3" name=""/>
          <p:cNvSpPr/>
          <p:nvPr/>
        </p:nvSpPr>
        <p:spPr>
          <a:xfrm>
            <a:off x="6032500" y="2743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4" name=""/>
          <p:cNvSpPr/>
          <p:nvPr/>
        </p:nvSpPr>
        <p:spPr>
          <a:xfrm>
            <a:off x="6032500" y="325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5" name=""/>
          <p:cNvSpPr/>
          <p:nvPr/>
        </p:nvSpPr>
        <p:spPr>
          <a:xfrm>
            <a:off x="6032500" y="3759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6" name=""/>
          <p:cNvSpPr/>
          <p:nvPr/>
        </p:nvSpPr>
        <p:spPr>
          <a:xfrm>
            <a:off x="6032500" y="452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7" name=""/>
          <p:cNvSpPr/>
          <p:nvPr/>
        </p:nvSpPr>
        <p:spPr>
          <a:xfrm>
            <a:off x="6032500" y="5283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8" name=""/>
          <p:cNvSpPr/>
          <p:nvPr/>
        </p:nvSpPr>
        <p:spPr>
          <a:xfrm>
            <a:off x="6032500" y="579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9" name=""/>
          <p:cNvSpPr/>
          <p:nvPr/>
        </p:nvSpPr>
        <p:spPr>
          <a:xfrm>
            <a:off x="10820400" y="1803400"/>
            <a:ext cx="1244600" cy="1016000"/>
          </a:xfrm>
          <a:prstGeom prst="roundRect">
            <a:avLst>
              <a:gd name="adj" fmla="val 4376"/>
            </a:avLst>
          </a:prstGeom>
          <a:solidFill>
            <a:srgbClr val="FEF3C7"/>
          </a:solidFill>
          <a:ln w="19050">
            <a:solidFill>
              <a:srgbClr val="92400E"/>
            </a:solidFill>
            <a:prstDash val="solid"/>
          </a:ln>
        </p:spPr>
        <p:txBody>
          <a:bodyPr/>
          <a:p/>
        </p:txBody>
      </p:sp>
      <p:sp>
        <p:nvSpPr>
          <p:cNvPr id="310" name=""/>
          <p:cNvSpPr/>
          <p:nvPr/>
        </p:nvSpPr>
        <p:spPr>
          <a:xfrm>
            <a:off x="10896600" y="19050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92400E"/>
                </a:solidFill>
                <a:latin typeface="Microsoft YaHei"/>
                <a:ea typeface="Microsoft YaHei"/>
              </a:rPr>
              <a:t>先校验，
再运行</a:t>
            </a:r>
            <a:endParaRPr/>
          </a:p>
        </p:txBody>
      </p:sp>
      <p:sp>
        <p:nvSpPr>
          <p:cNvPr id="311" name=""/>
          <p:cNvSpPr/>
          <p:nvPr/>
        </p:nvSpPr>
        <p:spPr>
          <a:xfrm>
            <a:off x="10896600" y="2209800"/>
            <a:ext cx="10922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保障数据质量
降低运行风险</a:t>
            </a:r>
            <a:endParaRPr/>
          </a:p>
        </p:txBody>
      </p:sp>
      <p:sp>
        <p:nvSpPr>
          <p:cNvPr id="312" name=""/>
          <p:cNvSpPr/>
          <p:nvPr/>
        </p:nvSpPr>
        <p:spPr>
          <a:xfrm>
            <a:off x="10820400" y="3073400"/>
            <a:ext cx="1244600" cy="1016000"/>
          </a:xfrm>
          <a:prstGeom prst="roundRect">
            <a:avLst>
              <a:gd name="adj" fmla="val 4376"/>
            </a:avLst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  <p:txBody>
          <a:bodyPr/>
          <a:p/>
        </p:txBody>
      </p:sp>
      <p:sp>
        <p:nvSpPr>
          <p:cNvPr id="313" name=""/>
          <p:cNvSpPr/>
          <p:nvPr/>
        </p:nvSpPr>
        <p:spPr>
          <a:xfrm>
            <a:off x="10896600" y="31750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66534"/>
                </a:solidFill>
                <a:latin typeface="Microsoft YaHei"/>
                <a:ea typeface="Microsoft YaHei"/>
              </a:rPr>
              <a:t>算法模块
可替换</a:t>
            </a:r>
            <a:endParaRPr/>
          </a:p>
        </p:txBody>
      </p:sp>
      <p:sp>
        <p:nvSpPr>
          <p:cNvPr id="314" name=""/>
          <p:cNvSpPr/>
          <p:nvPr/>
        </p:nvSpPr>
        <p:spPr>
          <a:xfrm>
            <a:off x="10896600" y="3479800"/>
            <a:ext cx="10922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166534"/>
                </a:solidFill>
                <a:latin typeface="Microsoft YaHei"/>
                <a:ea typeface="Microsoft YaHei"/>
              </a:rPr>
              <a:t>遵循统一接口
轻松扩展新算法</a:t>
            </a:r>
            <a:endParaRPr/>
          </a:p>
        </p:txBody>
      </p:sp>
      <p:sp>
        <p:nvSpPr>
          <p:cNvPr id="315" name=""/>
          <p:cNvSpPr/>
          <p:nvPr/>
        </p:nvSpPr>
        <p:spPr>
          <a:xfrm>
            <a:off x="10820400" y="4343400"/>
            <a:ext cx="1244600" cy="1016000"/>
          </a:xfrm>
          <a:prstGeom prst="roundRect">
            <a:avLst>
              <a:gd name="adj" fmla="val 4376"/>
            </a:avLst>
          </a:prstGeom>
          <a:solidFill>
            <a:srgbClr val="F3E8FF"/>
          </a:solidFill>
          <a:ln w="19050">
            <a:solidFill>
              <a:srgbClr val="6B21A8"/>
            </a:solidFill>
            <a:prstDash val="solid"/>
          </a:ln>
        </p:spPr>
        <p:txBody>
          <a:bodyPr/>
          <a:p/>
        </p:txBody>
      </p:sp>
      <p:sp>
        <p:nvSpPr>
          <p:cNvPr id="316" name=""/>
          <p:cNvSpPr/>
          <p:nvPr/>
        </p:nvSpPr>
        <p:spPr>
          <a:xfrm>
            <a:off x="10896600" y="44450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6B21A8"/>
                </a:solidFill>
                <a:latin typeface="Microsoft YaHei"/>
                <a:ea typeface="Microsoft YaHei"/>
              </a:rPr>
              <a:t>验证方法
可切换</a:t>
            </a:r>
            <a:endParaRPr/>
          </a:p>
        </p:txBody>
      </p:sp>
      <p:sp>
        <p:nvSpPr>
          <p:cNvPr id="317" name=""/>
          <p:cNvSpPr/>
          <p:nvPr/>
        </p:nvSpPr>
        <p:spPr>
          <a:xfrm>
            <a:off x="10896600" y="4749800"/>
            <a:ext cx="10922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B21A8"/>
                </a:solidFill>
                <a:latin typeface="Microsoft YaHei"/>
                <a:ea typeface="Microsoft YaHei"/>
              </a:rPr>
              <a:t>评测插件化
按需选择最佳方案</a:t>
            </a:r>
            <a:endParaRPr/>
          </a:p>
        </p:txBody>
      </p:sp>
      <p:sp>
        <p:nvSpPr>
          <p:cNvPr id="318" name=""/>
          <p:cNvSpPr/>
          <p:nvPr/>
        </p:nvSpPr>
        <p:spPr>
          <a:xfrm>
            <a:off x="10820400" y="6324600"/>
            <a:ext cx="12446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图例 — 数据流/控制流</a:t>
            </a:r>
            <a:endParaRPr/>
          </a:p>
        </p:txBody>
      </p:sp>
      <p:sp>
        <p:nvSpPr>
          <p:cNvPr id="319" name=""/>
          <p:cNvSpPr/>
          <p:nvPr/>
        </p:nvSpPr>
        <p:spPr>
          <a:xfrm>
            <a:off x="11963400" y="6451600"/>
            <a:ext cx="381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0" name=""/>
          <p:cNvSpPr/>
          <p:nvPr/>
        </p:nvSpPr>
        <p:spPr>
          <a:xfrm>
            <a:off x="11963400" y="6604000"/>
            <a:ext cx="381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21" name=""/>
          <p:cNvSpPr/>
          <p:nvPr/>
        </p:nvSpPr>
        <p:spPr>
          <a:xfrm>
            <a:off x="12395200" y="6350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实线 = 数据流</a:t>
            </a:r>
            <a:endParaRPr/>
          </a:p>
        </p:txBody>
      </p:sp>
      <p:sp>
        <p:nvSpPr>
          <p:cNvPr id="322" name=""/>
          <p:cNvSpPr/>
          <p:nvPr/>
        </p:nvSpPr>
        <p:spPr>
          <a:xfrm>
            <a:off x="123952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800">
                <a:solidFill>
                  <a:srgbClr val="64748B"/>
                </a:solidFill>
                <a:latin typeface="Microsoft YaHei"/>
                <a:ea typeface="Microsoft YaHei"/>
              </a:rPr>
              <a:t>虚线 = 依赖关系</a:t>
            </a:r>
            <a:endParaRPr/>
          </a:p>
        </p:txBody>
      </p:sp>
      <p:sp>
        <p:nvSpPr>
          <p:cNvPr id="323" name=""/>
          <p:cNvSpPr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>
                <a:solidFill>
                  <a:srgbClr val="1E3A8A"/>
                </a:solidFill>
                <a:latin typeface="Microsoft YaHei"/>
                <a:ea typeface="Microsoft YaHei"/>
              </a:rPr>
              <a:t>原始架构图参考</a:t>
            </a:r>
            <a:endParaRPr/>
          </a:p>
        </p:txBody>
      </p:sp>
      <p:pic>
        <p:nvPicPr>
          <p:cNvPr id="324" name=""/>
          <p:cNvPicPr/>
          <p:nvPr/>
        </p:nvPicPr>
        <p:blipFill>
          <a:blip r:embed="rId1"/>
          <a:stretch/>
        </p:blipFill>
        <p:spPr>
          <a:xfrm>
            <a:off x="1016000" y="635000"/>
            <a:ext cx="7958666" cy="5969000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2026-08-17T17:12:40Z</dcterms:created>
  <dcterms:modified xsi:type="dcterms:W3CDTF">2026-08-17T17:12:40Z</dcterms:modified>
</cp:coreProperties>
</file>