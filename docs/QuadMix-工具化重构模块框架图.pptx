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9" d="100"/>
          <a:sy n="99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defPPr/>
            <a:lvl1pPr algn="ctr">
              <a:defRPr sz="6000"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en-US" sz="6000"/>
              <a:t>Click to edit Master title style</a:t>
            </a:r>
            <a:endParaRPr lang="en-CN" sz="6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defPPr/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z="2400"/>
              <a:t>Click to edit Master subtitle style</a:t>
            </a:r>
            <a:endParaRPr lang="en-CN" sz="24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F1999F08-79FE-AA4C-9B9D-785CACBE3F19}" type="datetimeFigureOut">
              <a:rPr lang="en-CN" sz="2800" smtClean="0"/>
              <a:t>08/17/2026</a:t>
            </a:fld>
            <a:endParaRPr lang="en-CN" sz="2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endParaRPr lang="en-CN"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en-US" sz="4400"/>
              <a:t>Click to edit Master title style</a:t>
            </a:r>
            <a:endParaRPr lang="en-CN" sz="440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sz="2800"/>
              <a:t>Click to edit Master text styles</a:t>
            </a:r>
            <a:endParaRPr sz="2800"/>
          </a:p>
          <a:p>
            <a:pPr lvl="1"/>
            <a:r>
              <a:rPr lang="en-US" sz="2800"/>
              <a:t>Second level</a:t>
            </a:r>
            <a:endParaRPr sz="2800"/>
          </a:p>
          <a:p>
            <a:pPr lvl="2"/>
            <a:r>
              <a:rPr lang="en-US" sz="2800"/>
              <a:t>Third level</a:t>
            </a:r>
            <a:endParaRPr sz="2800"/>
          </a:p>
          <a:p>
            <a:pPr lvl="3"/>
            <a:r>
              <a:rPr lang="en-US" sz="2800"/>
              <a:t>Fourth level</a:t>
            </a:r>
            <a:endParaRPr sz="2800"/>
          </a:p>
          <a:p>
            <a:pPr lvl="4"/>
            <a:r>
              <a:rPr lang="en-US" sz="2800"/>
              <a:t>Fifth level</a:t>
            </a:r>
            <a:endParaRPr lang="en-CN" sz="280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F1999F08-79FE-AA4C-9B9D-785CACBE3F19}" type="datetimeFigureOut">
              <a:rPr lang="en-CN" sz="2800" smtClean="0"/>
              <a:t>08/17/2026</a:t>
            </a:fld>
            <a:endParaRPr lang="en-CN" sz="280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endParaRPr lang="en-CN" sz="280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defPPr/>
            <a:lvl1pPr>
              <a:defRPr sz="6000"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en-US" sz="6000"/>
              <a:t>Click to edit Master title style</a:t>
            </a:r>
            <a:endParaRPr lang="en-CN" sz="6000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defPPr/>
            <a:lvl1pPr marL="0" indent="0">
              <a:buNone/>
              <a:defRPr sz="2400">
                <a:solidFill>
                  <a:schemeClr val="tx1">
                    <a:tint val="82000"/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sz="2400"/>
              <a:t>Click to edit Master text styles</a:t>
            </a:r>
            <a:endParaRPr sz="240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F1999F08-79FE-AA4C-9B9D-785CACBE3F19}" type="datetimeFigureOut">
              <a:rPr lang="en-CN" sz="2800" smtClean="0"/>
              <a:t>08/17/2026</a:t>
            </a:fld>
            <a:endParaRPr lang="en-CN" sz="2800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endParaRPr lang="en-CN" sz="2800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en-US" sz="4400"/>
              <a:t>Click to edit Master title style</a:t>
            </a:r>
            <a:endParaRPr lang="en-CN" sz="4400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sz="2800"/>
              <a:t>Click to edit Master text styles</a:t>
            </a:r>
            <a:endParaRPr sz="2800"/>
          </a:p>
          <a:p>
            <a:pPr lvl="1"/>
            <a:r>
              <a:rPr lang="en-US" sz="2800"/>
              <a:t>Second level</a:t>
            </a:r>
            <a:endParaRPr sz="2800"/>
          </a:p>
          <a:p>
            <a:pPr lvl="2"/>
            <a:r>
              <a:rPr lang="en-US" sz="2800"/>
              <a:t>Third level</a:t>
            </a:r>
            <a:endParaRPr sz="2800"/>
          </a:p>
          <a:p>
            <a:pPr lvl="3"/>
            <a:r>
              <a:rPr lang="en-US" sz="2800"/>
              <a:t>Fourth level</a:t>
            </a:r>
            <a:endParaRPr sz="2800"/>
          </a:p>
          <a:p>
            <a:pPr lvl="4"/>
            <a:r>
              <a:rPr lang="en-US" sz="2800"/>
              <a:t>Fifth level</a:t>
            </a:r>
            <a:endParaRPr lang="en-CN" sz="2800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sz="2800"/>
              <a:t>Click to edit Master text styles</a:t>
            </a:r>
            <a:endParaRPr sz="2800"/>
          </a:p>
          <a:p>
            <a:pPr lvl="1"/>
            <a:r>
              <a:rPr lang="en-US" sz="2800"/>
              <a:t>Second level</a:t>
            </a:r>
            <a:endParaRPr sz="2800"/>
          </a:p>
          <a:p>
            <a:pPr lvl="2"/>
            <a:r>
              <a:rPr lang="en-US" sz="2800"/>
              <a:t>Third level</a:t>
            </a:r>
            <a:endParaRPr sz="2800"/>
          </a:p>
          <a:p>
            <a:pPr lvl="3"/>
            <a:r>
              <a:rPr lang="en-US" sz="2800"/>
              <a:t>Fourth level</a:t>
            </a:r>
            <a:endParaRPr sz="2800"/>
          </a:p>
          <a:p>
            <a:pPr lvl="4"/>
            <a:r>
              <a:rPr lang="en-US" sz="2800"/>
              <a:t>Fifth level</a:t>
            </a:r>
            <a:endParaRPr lang="en-CN" sz="2800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F1999F08-79FE-AA4C-9B9D-785CACBE3F19}" type="datetimeFigureOut">
              <a:rPr lang="en-CN" sz="2800" smtClean="0"/>
              <a:t>08/17/2026</a:t>
            </a:fld>
            <a:endParaRPr lang="en-CN" sz="2800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endParaRPr lang="en-CN" sz="2800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en-US" sz="4400"/>
              <a:t>Click to edit Master title style</a:t>
            </a:r>
            <a:endParaRPr lang="en-CN" sz="4400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defPPr/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z="2400"/>
              <a:t>Click to edit Master text styles</a:t>
            </a:r>
            <a:endParaRPr sz="240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sz="2800"/>
              <a:t>Click to edit Master text styles</a:t>
            </a:r>
            <a:endParaRPr sz="2800"/>
          </a:p>
          <a:p>
            <a:pPr lvl="1"/>
            <a:r>
              <a:rPr lang="en-US" sz="2800"/>
              <a:t>Second level</a:t>
            </a:r>
            <a:endParaRPr sz="2800"/>
          </a:p>
          <a:p>
            <a:pPr lvl="2"/>
            <a:r>
              <a:rPr lang="en-US" sz="2800"/>
              <a:t>Third level</a:t>
            </a:r>
            <a:endParaRPr sz="2800"/>
          </a:p>
          <a:p>
            <a:pPr lvl="3"/>
            <a:r>
              <a:rPr lang="en-US" sz="2800"/>
              <a:t>Fourth level</a:t>
            </a:r>
            <a:endParaRPr sz="2800"/>
          </a:p>
          <a:p>
            <a:pPr lvl="4"/>
            <a:r>
              <a:rPr lang="en-US" sz="2800"/>
              <a:t>Fifth level</a:t>
            </a:r>
            <a:endParaRPr lang="en-CN" sz="2800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defPPr/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z="2400"/>
              <a:t>Click to edit Master text styles</a:t>
            </a:r>
            <a:endParaRPr sz="240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sz="2800"/>
              <a:t>Click to edit Master text styles</a:t>
            </a:r>
            <a:endParaRPr sz="2800"/>
          </a:p>
          <a:p>
            <a:pPr lvl="1"/>
            <a:r>
              <a:rPr lang="en-US" sz="2800"/>
              <a:t>Second level</a:t>
            </a:r>
            <a:endParaRPr sz="2800"/>
          </a:p>
          <a:p>
            <a:pPr lvl="2"/>
            <a:r>
              <a:rPr lang="en-US" sz="2800"/>
              <a:t>Third level</a:t>
            </a:r>
            <a:endParaRPr sz="2800"/>
          </a:p>
          <a:p>
            <a:pPr lvl="3"/>
            <a:r>
              <a:rPr lang="en-US" sz="2800"/>
              <a:t>Fourth level</a:t>
            </a:r>
            <a:endParaRPr sz="2800"/>
          </a:p>
          <a:p>
            <a:pPr lvl="4"/>
            <a:r>
              <a:rPr lang="en-US" sz="2800"/>
              <a:t>Fifth level</a:t>
            </a:r>
            <a:endParaRPr lang="en-CN" sz="2800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F1999F08-79FE-AA4C-9B9D-785CACBE3F19}" type="datetimeFigureOut">
              <a:rPr lang="en-CN" sz="2800" smtClean="0"/>
              <a:t>08/17/2026</a:t>
            </a:fld>
            <a:endParaRPr lang="en-CN" sz="2800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endParaRPr lang="en-CN" sz="2800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en-US" sz="4400"/>
              <a:t>Click to edit Master title style</a:t>
            </a:r>
            <a:endParaRPr lang="en-CN" sz="4400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F1999F08-79FE-AA4C-9B9D-785CACBE3F19}" type="datetimeFigureOut">
              <a:rPr lang="en-CN" sz="2800" smtClean="0"/>
              <a:t>08/17/2026</a:t>
            </a:fld>
            <a:endParaRPr lang="en-CN" sz="2800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endParaRPr lang="en-CN" sz="2800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F1999F08-79FE-AA4C-9B9D-785CACBE3F19}" type="datetimeFigureOut">
              <a:rPr lang="en-CN" sz="2800" smtClean="0"/>
              <a:t>08/17/2026</a:t>
            </a:fld>
            <a:endParaRPr lang="en-CN" sz="2800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endParaRPr lang="en-CN" sz="2800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defPPr/>
            <a:lvl1pPr>
              <a:defRPr sz="3200"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en-US" sz="3200"/>
              <a:t>Click to edit Master title style</a:t>
            </a:r>
            <a:endParaRPr lang="en-CN" sz="3200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defPPr/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z="3200"/>
              <a:t>Click to edit Master text styles</a:t>
            </a:r>
            <a:endParaRPr sz="3200"/>
          </a:p>
          <a:p>
            <a:pPr lvl="1"/>
            <a:r>
              <a:rPr lang="en-US" sz="3200"/>
              <a:t>Second level</a:t>
            </a:r>
            <a:endParaRPr sz="3200"/>
          </a:p>
          <a:p>
            <a:pPr lvl="2"/>
            <a:r>
              <a:rPr lang="en-US" sz="3200"/>
              <a:t>Third level</a:t>
            </a:r>
            <a:endParaRPr sz="3200"/>
          </a:p>
          <a:p>
            <a:pPr lvl="3"/>
            <a:r>
              <a:rPr lang="en-US" sz="3200"/>
              <a:t>Fourth level</a:t>
            </a:r>
            <a:endParaRPr sz="3200"/>
          </a:p>
          <a:p>
            <a:pPr lvl="4"/>
            <a:r>
              <a:rPr lang="en-US" sz="3200"/>
              <a:t>Fifth level</a:t>
            </a:r>
            <a:endParaRPr lang="en-CN" sz="3200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defPPr/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z="1600"/>
              <a:t>Click to edit Master text styles</a:t>
            </a:r>
            <a:endParaRPr sz="160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F1999F08-79FE-AA4C-9B9D-785CACBE3F19}" type="datetimeFigureOut">
              <a:rPr lang="en-CN" sz="2800" smtClean="0"/>
              <a:t>08/17/2026</a:t>
            </a:fld>
            <a:endParaRPr lang="en-CN" sz="2800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endParaRPr lang="en-CN" sz="2800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defPPr/>
            <a:lvl1pPr>
              <a:defRPr sz="3200"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en-US" sz="3200"/>
              <a:t>Click to edit Master title style</a:t>
            </a:r>
            <a:endParaRPr lang="en-CN" sz="3200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defPPr/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 sz="3200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defPPr/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z="1600"/>
              <a:t>Click to edit Master text styles</a:t>
            </a:r>
            <a:endParaRPr sz="160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F1999F08-79FE-AA4C-9B9D-785CACBE3F19}" type="datetimeFigureOut">
              <a:rPr lang="en-CN" sz="2800" smtClean="0"/>
              <a:t>08/17/2026</a:t>
            </a:fld>
            <a:endParaRPr lang="en-CN" sz="2800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endParaRPr lang="en-CN" sz="2800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en-US" sz="4400"/>
              <a:t>Click to edit Master title style</a:t>
            </a:r>
            <a:endParaRPr lang="en-CN" sz="4400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sz="2800"/>
              <a:t>Click to edit Master text styles</a:t>
            </a:r>
            <a:endParaRPr sz="2800"/>
          </a:p>
          <a:p>
            <a:pPr lvl="1"/>
            <a:r>
              <a:rPr lang="en-US" sz="2800"/>
              <a:t>Second level</a:t>
            </a:r>
            <a:endParaRPr sz="2800"/>
          </a:p>
          <a:p>
            <a:pPr lvl="2"/>
            <a:r>
              <a:rPr lang="en-US" sz="2800"/>
              <a:t>Third level</a:t>
            </a:r>
            <a:endParaRPr sz="2800"/>
          </a:p>
          <a:p>
            <a:pPr lvl="3"/>
            <a:r>
              <a:rPr lang="en-US" sz="2800"/>
              <a:t>Fourth level</a:t>
            </a:r>
            <a:endParaRPr sz="2800"/>
          </a:p>
          <a:p>
            <a:pPr lvl="4"/>
            <a:r>
              <a:rPr lang="en-US" sz="2800"/>
              <a:t>Fifth level</a:t>
            </a:r>
            <a:endParaRPr lang="en-CN" sz="2800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F1999F08-79FE-AA4C-9B9D-785CACBE3F19}" type="datetimeFigureOut">
              <a:rPr lang="en-CN" sz="2800" smtClean="0"/>
              <a:t>08/17/2026</a:t>
            </a:fld>
            <a:endParaRPr lang="en-CN" sz="2800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endParaRPr lang="en-CN" sz="2800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en-US" sz="4400"/>
              <a:t>Click to edit Master title style</a:t>
            </a:r>
            <a:endParaRPr lang="en-CN" sz="4400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sz="2800"/>
              <a:t>Click to edit Master text styles</a:t>
            </a:r>
            <a:endParaRPr sz="2800"/>
          </a:p>
          <a:p>
            <a:pPr lvl="1"/>
            <a:r>
              <a:rPr lang="en-US" sz="2800"/>
              <a:t>Second level</a:t>
            </a:r>
            <a:endParaRPr sz="2800"/>
          </a:p>
          <a:p>
            <a:pPr lvl="2"/>
            <a:r>
              <a:rPr lang="en-US" sz="2800"/>
              <a:t>Third level</a:t>
            </a:r>
            <a:endParaRPr sz="2800"/>
          </a:p>
          <a:p>
            <a:pPr lvl="3"/>
            <a:r>
              <a:rPr lang="en-US" sz="2800"/>
              <a:t>Fourth level</a:t>
            </a:r>
            <a:endParaRPr sz="2800"/>
          </a:p>
          <a:p>
            <a:pPr lvl="4"/>
            <a:r>
              <a:rPr lang="en-US" sz="2800"/>
              <a:t>Fifth level</a:t>
            </a:r>
            <a:endParaRPr lang="en-CN" sz="2800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F1999F08-79FE-AA4C-9B9D-785CACBE3F19}" type="datetimeFigureOut">
              <a:rPr lang="en-CN" sz="2800" smtClean="0"/>
              <a:t>08/17/2026</a:t>
            </a:fld>
            <a:endParaRPr lang="en-CN" sz="280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endParaRPr lang="en-CN" sz="280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fld id="{687ADD7D-5451-F94B-9F2C-E86DFFC8390B}" type="slidenum">
              <a:rPr lang="en-CN" sz="2800" smtClean="0"/>
              <a:t>‹#›</a:t>
            </a:fld>
            <a:endParaRPr lang="en-CN" sz="2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en-US" sz="4400"/>
              <a:t>Click to edit Master title style</a:t>
            </a:r>
            <a:endParaRPr lang="en-CN" sz="4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sz="2800"/>
              <a:t>Click to edit Master text styles</a:t>
            </a:r>
            <a:endParaRPr sz="2800"/>
          </a:p>
          <a:p>
            <a:pPr lvl="1"/>
            <a:r>
              <a:rPr lang="en-US" sz="2800"/>
              <a:t>Second level</a:t>
            </a:r>
            <a:endParaRPr sz="2800"/>
          </a:p>
          <a:p>
            <a:pPr lvl="2"/>
            <a:r>
              <a:rPr lang="en-US" sz="2800"/>
              <a:t>Third level</a:t>
            </a:r>
            <a:endParaRPr sz="2800"/>
          </a:p>
          <a:p>
            <a:pPr lvl="3"/>
            <a:r>
              <a:rPr lang="en-US" sz="2800"/>
              <a:t>Fourth level</a:t>
            </a:r>
            <a:endParaRPr sz="2800"/>
          </a:p>
          <a:p>
            <a:pPr lvl="4"/>
            <a:r>
              <a:rPr lang="en-US" sz="2800"/>
              <a:t>Fifth level</a:t>
            </a:r>
            <a:endParaRPr lang="en-CN" sz="2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/>
            <a:lvl1pPr algn="l">
              <a:defRPr sz="1200">
                <a:solidFill>
                  <a:schemeClr val="tx1">
                    <a:tint val="82000"/>
                    <a:tint val="82000"/>
                  </a:schemeClr>
                </a:solidFill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fld id="{F1999F08-79FE-AA4C-9B9D-785CACBE3F19}" type="datetimeFigureOut">
              <a:rPr lang="en-CN" sz="1200" smtClean="0"/>
              <a:t>08/17/2026</a:t>
            </a:fld>
            <a:endParaRPr lang="en-CN" sz="12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/>
            <a:lvl1pPr algn="ctr">
              <a:defRPr sz="1200">
                <a:solidFill>
                  <a:schemeClr val="tx1">
                    <a:tint val="82000"/>
                    <a:tint val="82000"/>
                  </a:schemeClr>
                </a:solidFill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endParaRPr lang="en-CN" sz="12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/>
            <a:lvl1pPr algn="r">
              <a:defRPr sz="1200">
                <a:solidFill>
                  <a:schemeClr val="tx1">
                    <a:tint val="82000"/>
                    <a:tint val="82000"/>
                  </a:schemeClr>
                </a:solidFill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fld id="{687ADD7D-5451-F94B-9F2C-E86DFFC8390B}" type="slidenum">
              <a:rPr lang="en-CN" sz="1200" smtClean="0"/>
              <a:t>‹#›</a:t>
            </a:fld>
            <a:endParaRPr lang="en-CN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4000" y="127000"/>
            <a:ext cx="116840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200">
                <a:solidFill>
                  <a:srgbClr val="1E3A8A"/>
                </a:solidFill>
                <a:latin typeface="Microsoft YaHei"/>
                <a:ea typeface="Microsoft YaHei"/>
              </a:rPr>
              <a:t>QuadMix 工具化重构模块框架图</a:t>
            </a:r>
            <a:endParaRPr/>
          </a:p>
        </p:txBody>
      </p:sp>
      <p:sp>
        <p:nvSpPr>
          <p:cNvPr id="3" name="矩形 2"/>
          <p:cNvSpPr/>
          <p:nvPr/>
        </p:nvSpPr>
        <p:spPr>
          <a:xfrm>
            <a:off x="254000" y="609600"/>
            <a:ext cx="116840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面向数据配比算法、训练验证与集群调度的可插拔平台</a:t>
            </a:r>
            <a:endParaRPr/>
          </a:p>
        </p:txBody>
      </p:sp>
      <p:sp>
        <p:nvSpPr>
          <p:cNvPr id="4" name="矩形: 圆角 3"/>
          <p:cNvSpPr/>
          <p:nvPr/>
        </p:nvSpPr>
        <p:spPr>
          <a:xfrm>
            <a:off x="31750" y="897222"/>
            <a:ext cx="1244600" cy="5833778"/>
          </a:xfrm>
          <a:prstGeom prst="roundRect">
            <a:avLst>
              <a:gd name="adj" fmla="val 4376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/>
          <p:cNvSpPr/>
          <p:nvPr/>
        </p:nvSpPr>
        <p:spPr>
          <a:xfrm>
            <a:off x="171450" y="961791"/>
            <a:ext cx="1143000" cy="31252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 dirty="0">
                <a:solidFill>
                  <a:srgbClr val="1E3A8A"/>
                </a:solidFill>
                <a:latin typeface="Microsoft YaHei"/>
                <a:ea typeface="Microsoft YaHei"/>
              </a:rPr>
              <a:t>数据流说明</a:t>
            </a:r>
            <a:endParaRPr dirty="0"/>
          </a:p>
        </p:txBody>
      </p:sp>
      <p:sp>
        <p:nvSpPr>
          <p:cNvPr id="6" name="矩形: 圆角 5"/>
          <p:cNvSpPr/>
          <p:nvPr/>
        </p:nvSpPr>
        <p:spPr>
          <a:xfrm>
            <a:off x="95250" y="1354422"/>
            <a:ext cx="1016000" cy="442742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r>
              <a:rPr lang="zh-CN" altLang="zh-CN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1000" dirty="0">
                <a:solidFill>
                  <a:srgbClr val="FFFFFF"/>
                </a:solidFill>
                <a:latin typeface="Microsoft YaHei"/>
                <a:ea typeface="Microsoft YaHei"/>
              </a:rPr>
              <a:t>1.</a:t>
            </a:r>
            <a:r>
              <a:rPr lang="zh-CN" altLang="zh-CN" sz="1000" dirty="0">
                <a:solidFill>
                  <a:srgbClr val="FFFFFF"/>
                </a:solidFill>
                <a:latin typeface="Microsoft YaHei"/>
                <a:ea typeface="Microsoft YaHei"/>
              </a:rPr>
              <a:t>上传数据集</a:t>
            </a:r>
            <a:endParaRPr sz="1000" dirty="0"/>
          </a:p>
        </p:txBody>
      </p:sp>
      <p:sp>
        <p:nvSpPr>
          <p:cNvPr id="7" name="矩形 6"/>
          <p:cNvSpPr/>
          <p:nvPr/>
        </p:nvSpPr>
        <p:spPr>
          <a:xfrm>
            <a:off x="158750" y="1456022"/>
            <a:ext cx="889000" cy="27345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8" name="矩形: 圆角 7"/>
          <p:cNvSpPr/>
          <p:nvPr/>
        </p:nvSpPr>
        <p:spPr>
          <a:xfrm>
            <a:off x="158750" y="2014822"/>
            <a:ext cx="889000" cy="442742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/>
          <p:cNvSpPr/>
          <p:nvPr/>
        </p:nvSpPr>
        <p:spPr>
          <a:xfrm>
            <a:off x="158750" y="2116421"/>
            <a:ext cx="889000" cy="2343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altLang="zh-CN" sz="1000" dirty="0">
                <a:solidFill>
                  <a:srgbClr val="1E293B"/>
                </a:solidFill>
                <a:latin typeface="Microsoft YaHei"/>
                <a:ea typeface="Microsoft YaHei"/>
              </a:rPr>
              <a:t>2.</a:t>
            </a:r>
            <a:r>
              <a:rPr lang="zh-CN" sz="1000" dirty="0">
                <a:solidFill>
                  <a:srgbClr val="1E293B"/>
                </a:solidFill>
                <a:latin typeface="Microsoft YaHei"/>
                <a:ea typeface="Microsoft YaHei"/>
              </a:rPr>
              <a:t>数据校验</a:t>
            </a:r>
            <a:endParaRPr dirty="0"/>
          </a:p>
        </p:txBody>
      </p:sp>
      <p:sp>
        <p:nvSpPr>
          <p:cNvPr id="10" name="矩形: 圆角 9"/>
          <p:cNvSpPr/>
          <p:nvPr/>
        </p:nvSpPr>
        <p:spPr>
          <a:xfrm>
            <a:off x="80277" y="2675222"/>
            <a:ext cx="1117600" cy="442742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r>
              <a:rPr lang="en-US" altLang="zh-CN" sz="1000" dirty="0">
                <a:solidFill>
                  <a:srgbClr val="1E293B"/>
                </a:solidFill>
                <a:latin typeface="Microsoft YaHei"/>
                <a:ea typeface="Microsoft YaHei"/>
              </a:rPr>
              <a:t>3.</a:t>
            </a:r>
            <a:r>
              <a:rPr lang="zh-CN" altLang="en-US" sz="1000" dirty="0">
                <a:solidFill>
                  <a:srgbClr val="1E293B"/>
                </a:solidFill>
                <a:latin typeface="Microsoft YaHei"/>
                <a:ea typeface="Microsoft YaHei"/>
              </a:rPr>
              <a:t> 统一数据接口</a:t>
            </a:r>
            <a:endParaRPr lang="zh-CN" altLang="en-US" sz="1000" dirty="0"/>
          </a:p>
        </p:txBody>
      </p:sp>
      <p:sp>
        <p:nvSpPr>
          <p:cNvPr id="11" name="矩形 10"/>
          <p:cNvSpPr/>
          <p:nvPr/>
        </p:nvSpPr>
        <p:spPr>
          <a:xfrm>
            <a:off x="158750" y="2776821"/>
            <a:ext cx="889000" cy="2343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12" name="矩形: 圆角 11"/>
          <p:cNvSpPr/>
          <p:nvPr/>
        </p:nvSpPr>
        <p:spPr>
          <a:xfrm>
            <a:off x="101600" y="3335622"/>
            <a:ext cx="1104900" cy="442742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r>
              <a:rPr lang="en-US" altLang="zh-CN" sz="1000" dirty="0">
                <a:solidFill>
                  <a:srgbClr val="1E293B"/>
                </a:solidFill>
                <a:latin typeface="Microsoft YaHei"/>
                <a:ea typeface="Microsoft YaHei"/>
              </a:rPr>
              <a:t>4.</a:t>
            </a:r>
            <a:r>
              <a:rPr lang="zh-CN" altLang="en-US" sz="1000" dirty="0">
                <a:solidFill>
                  <a:srgbClr val="1E293B"/>
                </a:solidFill>
                <a:latin typeface="Microsoft YaHei"/>
                <a:ea typeface="Microsoft YaHei"/>
              </a:rPr>
              <a:t>配比算法选择</a:t>
            </a:r>
            <a:endParaRPr lang="zh-CN" altLang="en-US" sz="1000" dirty="0"/>
          </a:p>
          <a:p>
            <a:endParaRPr dirty="0"/>
          </a:p>
        </p:txBody>
      </p:sp>
      <p:sp>
        <p:nvSpPr>
          <p:cNvPr id="13" name="矩形 12"/>
          <p:cNvSpPr/>
          <p:nvPr/>
        </p:nvSpPr>
        <p:spPr>
          <a:xfrm>
            <a:off x="158750" y="3437221"/>
            <a:ext cx="889000" cy="2343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14" name="矩形: 圆角 13"/>
          <p:cNvSpPr/>
          <p:nvPr/>
        </p:nvSpPr>
        <p:spPr>
          <a:xfrm>
            <a:off x="158750" y="3996022"/>
            <a:ext cx="889000" cy="442742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r>
              <a:rPr lang="en-US" altLang="zh-CN" sz="1000" dirty="0">
                <a:solidFill>
                  <a:srgbClr val="1E293B"/>
                </a:solidFill>
                <a:latin typeface="Microsoft YaHei"/>
                <a:ea typeface="Microsoft YaHei"/>
              </a:rPr>
              <a:t>5.</a:t>
            </a:r>
            <a:r>
              <a:rPr lang="zh-CN" altLang="zh-CN" sz="1000" dirty="0">
                <a:solidFill>
                  <a:srgbClr val="1E293B"/>
                </a:solidFill>
                <a:latin typeface="Microsoft YaHei"/>
                <a:ea typeface="Microsoft YaHei"/>
              </a:rPr>
              <a:t>训练</a:t>
            </a:r>
            <a:endParaRPr sz="1000" dirty="0"/>
          </a:p>
        </p:txBody>
      </p:sp>
      <p:sp>
        <p:nvSpPr>
          <p:cNvPr id="15" name="矩形 14"/>
          <p:cNvSpPr/>
          <p:nvPr/>
        </p:nvSpPr>
        <p:spPr>
          <a:xfrm>
            <a:off x="158750" y="4097621"/>
            <a:ext cx="889000" cy="2343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16" name="矩形: 圆角 15"/>
          <p:cNvSpPr/>
          <p:nvPr/>
        </p:nvSpPr>
        <p:spPr>
          <a:xfrm>
            <a:off x="158750" y="4656422"/>
            <a:ext cx="889000" cy="442742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r>
              <a:rPr lang="en-US" altLang="zh-CN" sz="1000" dirty="0">
                <a:solidFill>
                  <a:srgbClr val="1E293B"/>
                </a:solidFill>
                <a:latin typeface="Microsoft YaHei"/>
                <a:ea typeface="Microsoft YaHei"/>
              </a:rPr>
              <a:t>6.</a:t>
            </a:r>
            <a:r>
              <a:rPr lang="zh-CN" altLang="zh-CN" sz="1000" dirty="0">
                <a:solidFill>
                  <a:srgbClr val="1E293B"/>
                </a:solidFill>
                <a:latin typeface="Microsoft YaHei"/>
                <a:ea typeface="Microsoft YaHei"/>
              </a:rPr>
              <a:t>验证</a:t>
            </a:r>
            <a:endParaRPr sz="1000" dirty="0"/>
          </a:p>
        </p:txBody>
      </p:sp>
      <p:sp>
        <p:nvSpPr>
          <p:cNvPr id="17" name="矩形 16"/>
          <p:cNvSpPr/>
          <p:nvPr/>
        </p:nvSpPr>
        <p:spPr>
          <a:xfrm>
            <a:off x="158750" y="4758021"/>
            <a:ext cx="889000" cy="2343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18" name="矩形: 圆角 17"/>
          <p:cNvSpPr/>
          <p:nvPr/>
        </p:nvSpPr>
        <p:spPr>
          <a:xfrm>
            <a:off x="158750" y="5316822"/>
            <a:ext cx="889000" cy="442742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/>
          <p:cNvSpPr/>
          <p:nvPr/>
        </p:nvSpPr>
        <p:spPr>
          <a:xfrm>
            <a:off x="158750" y="5418421"/>
            <a:ext cx="889000" cy="2343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00" dirty="0">
                <a:solidFill>
                  <a:srgbClr val="1E293B"/>
                </a:solidFill>
                <a:latin typeface="Microsoft YaHei"/>
                <a:ea typeface="Microsoft YaHei"/>
              </a:rPr>
              <a:t>⑦ 结果分析</a:t>
            </a:r>
            <a:endParaRPr dirty="0"/>
          </a:p>
        </p:txBody>
      </p:sp>
      <p:sp>
        <p:nvSpPr>
          <p:cNvPr id="20" name="矩形: 圆角 19"/>
          <p:cNvSpPr/>
          <p:nvPr/>
        </p:nvSpPr>
        <p:spPr>
          <a:xfrm>
            <a:off x="1397000" y="984250"/>
            <a:ext cx="9271000" cy="431800"/>
          </a:xfrm>
          <a:prstGeom prst="roundRect">
            <a:avLst>
              <a:gd name="adj" fmla="val 4376"/>
            </a:avLst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: 圆角 20"/>
          <p:cNvSpPr/>
          <p:nvPr/>
        </p:nvSpPr>
        <p:spPr>
          <a:xfrm>
            <a:off x="1524000" y="10795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/>
          <p:cNvSpPr/>
          <p:nvPr/>
        </p:nvSpPr>
        <p:spPr>
          <a:xfrm>
            <a:off x="1524000" y="11176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3" name="矩形 22"/>
          <p:cNvSpPr/>
          <p:nvPr/>
        </p:nvSpPr>
        <p:spPr>
          <a:xfrm>
            <a:off x="1854200" y="10922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用户接口层</a:t>
            </a:r>
            <a:endParaRPr/>
          </a:p>
        </p:txBody>
      </p:sp>
      <p:sp>
        <p:nvSpPr>
          <p:cNvPr id="24" name="矩形: 圆角 23"/>
          <p:cNvSpPr/>
          <p:nvPr/>
        </p:nvSpPr>
        <p:spPr>
          <a:xfrm>
            <a:off x="3251200" y="10795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/>
          <p:cNvSpPr/>
          <p:nvPr/>
        </p:nvSpPr>
        <p:spPr>
          <a:xfrm>
            <a:off x="3289300" y="11176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CLI</a:t>
            </a:r>
            <a:endParaRPr/>
          </a:p>
        </p:txBody>
      </p:sp>
      <p:sp>
        <p:nvSpPr>
          <p:cNvPr id="26" name="矩形: 圆角 25"/>
          <p:cNvSpPr/>
          <p:nvPr/>
        </p:nvSpPr>
        <p:spPr>
          <a:xfrm>
            <a:off x="5099050" y="10795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/>
          <p:cNvSpPr/>
          <p:nvPr/>
        </p:nvSpPr>
        <p:spPr>
          <a:xfrm>
            <a:off x="5137150" y="11176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 dirty="0">
                <a:solidFill>
                  <a:srgbClr val="1E293B"/>
                </a:solidFill>
                <a:latin typeface="Microsoft YaHei"/>
                <a:ea typeface="Microsoft YaHei"/>
              </a:rPr>
              <a:t>API</a:t>
            </a:r>
            <a:endParaRPr dirty="0"/>
          </a:p>
        </p:txBody>
      </p:sp>
      <p:sp>
        <p:nvSpPr>
          <p:cNvPr id="28" name="矩形: 圆角 27"/>
          <p:cNvSpPr/>
          <p:nvPr/>
        </p:nvSpPr>
        <p:spPr>
          <a:xfrm>
            <a:off x="6946900" y="10795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/>
          <p:cNvSpPr/>
          <p:nvPr/>
        </p:nvSpPr>
        <p:spPr>
          <a:xfrm>
            <a:off x="6985000" y="11176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 dirty="0">
                <a:solidFill>
                  <a:srgbClr val="1E293B"/>
                </a:solidFill>
                <a:latin typeface="Microsoft YaHei"/>
                <a:ea typeface="Microsoft YaHei"/>
              </a:rPr>
              <a:t>YAML配置</a:t>
            </a:r>
            <a:endParaRPr dirty="0"/>
          </a:p>
        </p:txBody>
      </p:sp>
      <p:sp>
        <p:nvSpPr>
          <p:cNvPr id="30" name="矩形: 圆角 29"/>
          <p:cNvSpPr/>
          <p:nvPr/>
        </p:nvSpPr>
        <p:spPr>
          <a:xfrm>
            <a:off x="8794750" y="10795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/>
          <p:cNvSpPr/>
          <p:nvPr/>
        </p:nvSpPr>
        <p:spPr>
          <a:xfrm>
            <a:off x="8832850" y="11176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Web/服务接口</a:t>
            </a:r>
            <a:endParaRPr/>
          </a:p>
        </p:txBody>
      </p:sp>
      <p:sp>
        <p:nvSpPr>
          <p:cNvPr id="32" name="矩形: 圆角 31"/>
          <p:cNvSpPr/>
          <p:nvPr/>
        </p:nvSpPr>
        <p:spPr>
          <a:xfrm>
            <a:off x="1397000" y="1549400"/>
            <a:ext cx="9271000" cy="431800"/>
          </a:xfrm>
          <a:prstGeom prst="roundRect">
            <a:avLst>
              <a:gd name="adj" fmla="val 4376"/>
            </a:avLst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: 圆角 32"/>
          <p:cNvSpPr/>
          <p:nvPr/>
        </p:nvSpPr>
        <p:spPr>
          <a:xfrm>
            <a:off x="1498600" y="1625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矩形 33"/>
          <p:cNvSpPr/>
          <p:nvPr/>
        </p:nvSpPr>
        <p:spPr>
          <a:xfrm>
            <a:off x="1498600" y="1663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5" name="矩形 34"/>
          <p:cNvSpPr/>
          <p:nvPr/>
        </p:nvSpPr>
        <p:spPr>
          <a:xfrm>
            <a:off x="1828800" y="1638300"/>
            <a:ext cx="14605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dirty="0">
                <a:solidFill>
                  <a:srgbClr val="1E293B"/>
                </a:solidFill>
                <a:latin typeface="Microsoft YaHei"/>
                <a:ea typeface="Microsoft YaHei"/>
              </a:rPr>
              <a:t>实验编排与调度层</a:t>
            </a:r>
            <a:endParaRPr dirty="0"/>
          </a:p>
        </p:txBody>
      </p:sp>
      <p:sp>
        <p:nvSpPr>
          <p:cNvPr id="36" name="矩形: 圆角 35"/>
          <p:cNvSpPr/>
          <p:nvPr/>
        </p:nvSpPr>
        <p:spPr>
          <a:xfrm>
            <a:off x="3225800" y="162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/>
          <p:cNvSpPr/>
          <p:nvPr/>
        </p:nvSpPr>
        <p:spPr>
          <a:xfrm>
            <a:off x="3263900" y="166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 dirty="0">
                <a:solidFill>
                  <a:srgbClr val="1E293B"/>
                </a:solidFill>
                <a:latin typeface="Microsoft YaHei"/>
                <a:ea typeface="Microsoft YaHei"/>
              </a:rPr>
              <a:t>Pipeline Manager</a:t>
            </a:r>
            <a:endParaRPr dirty="0"/>
          </a:p>
        </p:txBody>
      </p:sp>
      <p:sp>
        <p:nvSpPr>
          <p:cNvPr id="38" name="矩形: 圆角 37"/>
          <p:cNvSpPr/>
          <p:nvPr/>
        </p:nvSpPr>
        <p:spPr>
          <a:xfrm>
            <a:off x="5073650" y="162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矩形 38"/>
          <p:cNvSpPr/>
          <p:nvPr/>
        </p:nvSpPr>
        <p:spPr>
          <a:xfrm>
            <a:off x="5111750" y="166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任务编排</a:t>
            </a:r>
            <a:endParaRPr/>
          </a:p>
        </p:txBody>
      </p:sp>
      <p:sp>
        <p:nvSpPr>
          <p:cNvPr id="40" name="矩形: 圆角 39"/>
          <p:cNvSpPr/>
          <p:nvPr/>
        </p:nvSpPr>
        <p:spPr>
          <a:xfrm>
            <a:off x="6921500" y="162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矩形 40"/>
          <p:cNvSpPr/>
          <p:nvPr/>
        </p:nvSpPr>
        <p:spPr>
          <a:xfrm>
            <a:off x="6959600" y="166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 dirty="0">
                <a:solidFill>
                  <a:srgbClr val="1E293B"/>
                </a:solidFill>
                <a:latin typeface="Microsoft YaHei"/>
                <a:ea typeface="Microsoft YaHei"/>
              </a:rPr>
              <a:t>日志与检查点</a:t>
            </a:r>
            <a:endParaRPr dirty="0"/>
          </a:p>
        </p:txBody>
      </p:sp>
      <p:sp>
        <p:nvSpPr>
          <p:cNvPr id="42" name="矩形: 圆角 41"/>
          <p:cNvSpPr/>
          <p:nvPr/>
        </p:nvSpPr>
        <p:spPr>
          <a:xfrm>
            <a:off x="8769350" y="162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矩形 42"/>
          <p:cNvSpPr/>
          <p:nvPr/>
        </p:nvSpPr>
        <p:spPr>
          <a:xfrm>
            <a:off x="8807450" y="166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 dirty="0">
                <a:solidFill>
                  <a:srgbClr val="1E293B"/>
                </a:solidFill>
                <a:latin typeface="Microsoft YaHei"/>
                <a:ea typeface="Microsoft YaHei"/>
              </a:rPr>
              <a:t>高性能集群任务提交</a:t>
            </a:r>
            <a:endParaRPr dirty="0"/>
          </a:p>
        </p:txBody>
      </p:sp>
      <p:sp>
        <p:nvSpPr>
          <p:cNvPr id="44" name="矩形: 圆角 43"/>
          <p:cNvSpPr/>
          <p:nvPr/>
        </p:nvSpPr>
        <p:spPr>
          <a:xfrm>
            <a:off x="1397000" y="2057400"/>
            <a:ext cx="9271000" cy="685800"/>
          </a:xfrm>
          <a:prstGeom prst="roundRect">
            <a:avLst>
              <a:gd name="adj" fmla="val 4376"/>
            </a:avLst>
          </a:prstGeom>
          <a:solidFill>
            <a:srgbClr val="D1FAE5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矩形: 圆角 44"/>
          <p:cNvSpPr/>
          <p:nvPr/>
        </p:nvSpPr>
        <p:spPr>
          <a:xfrm>
            <a:off x="1498600" y="2260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矩形 45"/>
          <p:cNvSpPr/>
          <p:nvPr/>
        </p:nvSpPr>
        <p:spPr>
          <a:xfrm>
            <a:off x="1498600" y="2298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7" name="矩形 46"/>
          <p:cNvSpPr/>
          <p:nvPr/>
        </p:nvSpPr>
        <p:spPr>
          <a:xfrm>
            <a:off x="1828800" y="2273300"/>
            <a:ext cx="13589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dirty="0">
                <a:solidFill>
                  <a:srgbClr val="1E293B"/>
                </a:solidFill>
                <a:latin typeface="Microsoft YaHei"/>
                <a:ea typeface="Microsoft YaHei"/>
              </a:rPr>
              <a:t>数据检测与验证层</a:t>
            </a:r>
            <a:endParaRPr dirty="0"/>
          </a:p>
        </p:txBody>
      </p:sp>
      <p:sp>
        <p:nvSpPr>
          <p:cNvPr id="48" name="矩形: 圆角 47"/>
          <p:cNvSpPr/>
          <p:nvPr/>
        </p:nvSpPr>
        <p:spPr>
          <a:xfrm>
            <a:off x="3225800" y="213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矩形 48"/>
          <p:cNvSpPr/>
          <p:nvPr/>
        </p:nvSpPr>
        <p:spPr>
          <a:xfrm>
            <a:off x="3263900" y="2298700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上传数据集校验</a:t>
            </a:r>
            <a:endParaRPr/>
          </a:p>
        </p:txBody>
      </p:sp>
      <p:sp>
        <p:nvSpPr>
          <p:cNvPr id="50" name="矩形: 圆角 49"/>
          <p:cNvSpPr/>
          <p:nvPr/>
        </p:nvSpPr>
        <p:spPr>
          <a:xfrm>
            <a:off x="4457700" y="213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矩形 50"/>
          <p:cNvSpPr/>
          <p:nvPr/>
        </p:nvSpPr>
        <p:spPr>
          <a:xfrm>
            <a:off x="4495800" y="2298700"/>
            <a:ext cx="11557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 dirty="0">
                <a:solidFill>
                  <a:srgbClr val="1E293B"/>
                </a:solidFill>
                <a:latin typeface="Microsoft YaHei"/>
                <a:ea typeface="Microsoft YaHei"/>
              </a:rPr>
              <a:t>格式/Schema检查</a:t>
            </a:r>
            <a:endParaRPr dirty="0"/>
          </a:p>
        </p:txBody>
      </p:sp>
      <p:sp>
        <p:nvSpPr>
          <p:cNvPr id="52" name="矩形: 圆角 51"/>
          <p:cNvSpPr/>
          <p:nvPr/>
        </p:nvSpPr>
        <p:spPr>
          <a:xfrm>
            <a:off x="5689600" y="213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矩形 52"/>
          <p:cNvSpPr/>
          <p:nvPr/>
        </p:nvSpPr>
        <p:spPr>
          <a:xfrm>
            <a:off x="5727700" y="2298700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字段完整性</a:t>
            </a:r>
            <a:endParaRPr/>
          </a:p>
        </p:txBody>
      </p:sp>
      <p:sp>
        <p:nvSpPr>
          <p:cNvPr id="54" name="矩形: 圆角 53"/>
          <p:cNvSpPr/>
          <p:nvPr/>
        </p:nvSpPr>
        <p:spPr>
          <a:xfrm>
            <a:off x="6921500" y="213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矩形 54"/>
          <p:cNvSpPr/>
          <p:nvPr/>
        </p:nvSpPr>
        <p:spPr>
          <a:xfrm>
            <a:off x="6959600" y="2298700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domain标签检查</a:t>
            </a:r>
            <a:endParaRPr/>
          </a:p>
        </p:txBody>
      </p:sp>
      <p:sp>
        <p:nvSpPr>
          <p:cNvPr id="56" name="矩形: 圆角 55"/>
          <p:cNvSpPr/>
          <p:nvPr/>
        </p:nvSpPr>
        <p:spPr>
          <a:xfrm>
            <a:off x="8153400" y="213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矩形 56"/>
          <p:cNvSpPr/>
          <p:nvPr/>
        </p:nvSpPr>
        <p:spPr>
          <a:xfrm>
            <a:off x="8191500" y="2298700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token长度统计</a:t>
            </a:r>
            <a:endParaRPr/>
          </a:p>
        </p:txBody>
      </p:sp>
      <p:sp>
        <p:nvSpPr>
          <p:cNvPr id="58" name="矩形: 圆角 57"/>
          <p:cNvSpPr/>
          <p:nvPr/>
        </p:nvSpPr>
        <p:spPr>
          <a:xfrm>
            <a:off x="9385300" y="2133600"/>
            <a:ext cx="11557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矩形 58"/>
          <p:cNvSpPr/>
          <p:nvPr/>
        </p:nvSpPr>
        <p:spPr>
          <a:xfrm>
            <a:off x="9423400" y="2298700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重复率/质量检查</a:t>
            </a:r>
            <a:endParaRPr/>
          </a:p>
        </p:txBody>
      </p:sp>
      <p:sp>
        <p:nvSpPr>
          <p:cNvPr id="60" name="矩形: 圆角 59"/>
          <p:cNvSpPr/>
          <p:nvPr/>
        </p:nvSpPr>
        <p:spPr>
          <a:xfrm>
            <a:off x="1397000" y="2819400"/>
            <a:ext cx="9271000" cy="431800"/>
          </a:xfrm>
          <a:prstGeom prst="roundRect">
            <a:avLst>
              <a:gd name="adj" fmla="val 4376"/>
            </a:avLst>
          </a:prstGeom>
          <a:solidFill>
            <a:srgbClr val="E0F2FE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矩形: 圆角 60"/>
          <p:cNvSpPr/>
          <p:nvPr/>
        </p:nvSpPr>
        <p:spPr>
          <a:xfrm>
            <a:off x="1498600" y="2895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矩形 61"/>
          <p:cNvSpPr/>
          <p:nvPr/>
        </p:nvSpPr>
        <p:spPr>
          <a:xfrm>
            <a:off x="1498600" y="2933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3" name="矩形 62"/>
          <p:cNvSpPr/>
          <p:nvPr/>
        </p:nvSpPr>
        <p:spPr>
          <a:xfrm>
            <a:off x="1828800" y="2908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配置管理层</a:t>
            </a:r>
            <a:endParaRPr/>
          </a:p>
        </p:txBody>
      </p:sp>
      <p:sp>
        <p:nvSpPr>
          <p:cNvPr id="64" name="矩形: 圆角 63"/>
          <p:cNvSpPr/>
          <p:nvPr/>
        </p:nvSpPr>
        <p:spPr>
          <a:xfrm>
            <a:off x="3225800" y="289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矩形 64"/>
          <p:cNvSpPr/>
          <p:nvPr/>
        </p:nvSpPr>
        <p:spPr>
          <a:xfrm>
            <a:off x="3263900" y="293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dataset config</a:t>
            </a:r>
            <a:endParaRPr/>
          </a:p>
        </p:txBody>
      </p:sp>
      <p:sp>
        <p:nvSpPr>
          <p:cNvPr id="66" name="矩形: 圆角 65"/>
          <p:cNvSpPr/>
          <p:nvPr/>
        </p:nvSpPr>
        <p:spPr>
          <a:xfrm>
            <a:off x="5073650" y="289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矩形 66"/>
          <p:cNvSpPr/>
          <p:nvPr/>
        </p:nvSpPr>
        <p:spPr>
          <a:xfrm>
            <a:off x="5111750" y="293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 dirty="0">
                <a:solidFill>
                  <a:srgbClr val="1E293B"/>
                </a:solidFill>
                <a:latin typeface="Microsoft YaHei"/>
                <a:ea typeface="Microsoft YaHei"/>
              </a:rPr>
              <a:t>algorithm config</a:t>
            </a:r>
            <a:endParaRPr dirty="0"/>
          </a:p>
        </p:txBody>
      </p:sp>
      <p:sp>
        <p:nvSpPr>
          <p:cNvPr id="68" name="矩形: 圆角 67"/>
          <p:cNvSpPr/>
          <p:nvPr/>
        </p:nvSpPr>
        <p:spPr>
          <a:xfrm>
            <a:off x="6921500" y="289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矩形 68"/>
          <p:cNvSpPr/>
          <p:nvPr/>
        </p:nvSpPr>
        <p:spPr>
          <a:xfrm>
            <a:off x="6959600" y="293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 dirty="0">
                <a:solidFill>
                  <a:srgbClr val="1E293B"/>
                </a:solidFill>
                <a:latin typeface="Microsoft YaHei"/>
                <a:ea typeface="Microsoft YaHei"/>
              </a:rPr>
              <a:t>training config</a:t>
            </a:r>
            <a:endParaRPr dirty="0"/>
          </a:p>
        </p:txBody>
      </p:sp>
      <p:sp>
        <p:nvSpPr>
          <p:cNvPr id="70" name="矩形: 圆角 69"/>
          <p:cNvSpPr/>
          <p:nvPr/>
        </p:nvSpPr>
        <p:spPr>
          <a:xfrm>
            <a:off x="8769350" y="2895600"/>
            <a:ext cx="177165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矩形 70"/>
          <p:cNvSpPr/>
          <p:nvPr/>
        </p:nvSpPr>
        <p:spPr>
          <a:xfrm>
            <a:off x="8807450" y="2933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 dirty="0">
                <a:solidFill>
                  <a:srgbClr val="1E293B"/>
                </a:solidFill>
                <a:latin typeface="Microsoft YaHei"/>
                <a:ea typeface="Microsoft YaHei"/>
              </a:rPr>
              <a:t>evaluation config</a:t>
            </a:r>
            <a:endParaRPr dirty="0"/>
          </a:p>
        </p:txBody>
      </p:sp>
      <p:sp>
        <p:nvSpPr>
          <p:cNvPr id="72" name="矩形: 圆角 71"/>
          <p:cNvSpPr/>
          <p:nvPr/>
        </p:nvSpPr>
        <p:spPr>
          <a:xfrm>
            <a:off x="1397000" y="3327400"/>
            <a:ext cx="9271000" cy="431800"/>
          </a:xfrm>
          <a:prstGeom prst="roundRect">
            <a:avLst>
              <a:gd name="adj" fmla="val 4376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矩形: 圆角 72"/>
          <p:cNvSpPr/>
          <p:nvPr/>
        </p:nvSpPr>
        <p:spPr>
          <a:xfrm>
            <a:off x="1498600" y="3403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矩形 73"/>
          <p:cNvSpPr/>
          <p:nvPr/>
        </p:nvSpPr>
        <p:spPr>
          <a:xfrm>
            <a:off x="1498600" y="3441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75" name="矩形 74"/>
          <p:cNvSpPr/>
          <p:nvPr/>
        </p:nvSpPr>
        <p:spPr>
          <a:xfrm>
            <a:off x="1828800" y="34163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1E293B"/>
                </a:solidFill>
                <a:latin typeface="Microsoft YaHei"/>
                <a:ea typeface="Microsoft YaHei"/>
              </a:rPr>
              <a:t>统一数据抽象层</a:t>
            </a:r>
            <a:endParaRPr/>
          </a:p>
        </p:txBody>
      </p:sp>
      <p:sp>
        <p:nvSpPr>
          <p:cNvPr id="76" name="矩形: 圆角 75"/>
          <p:cNvSpPr/>
          <p:nvPr/>
        </p:nvSpPr>
        <p:spPr>
          <a:xfrm>
            <a:off x="3225800" y="3403600"/>
            <a:ext cx="727710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pPr algn="ctr"/>
            <a:r>
              <a:rPr lang="zh-CN" altLang="zh-CN" sz="1400" dirty="0"/>
              <a:t>不同原始数据统一转换成内部结构</a:t>
            </a:r>
            <a:endParaRPr sz="1400" dirty="0"/>
          </a:p>
        </p:txBody>
      </p:sp>
      <p:sp>
        <p:nvSpPr>
          <p:cNvPr id="84" name="矩形: 圆角 83"/>
          <p:cNvSpPr/>
          <p:nvPr/>
        </p:nvSpPr>
        <p:spPr>
          <a:xfrm>
            <a:off x="1397000" y="3835400"/>
            <a:ext cx="9271000" cy="685800"/>
          </a:xfrm>
          <a:prstGeom prst="roundRect">
            <a:avLst>
              <a:gd name="adj" fmla="val 4376"/>
            </a:avLst>
          </a:prstGeom>
          <a:solidFill>
            <a:srgbClr val="DCFCE7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矩形: 圆角 84"/>
          <p:cNvSpPr/>
          <p:nvPr/>
        </p:nvSpPr>
        <p:spPr>
          <a:xfrm>
            <a:off x="1498600" y="4038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矩形 85"/>
          <p:cNvSpPr/>
          <p:nvPr/>
        </p:nvSpPr>
        <p:spPr>
          <a:xfrm>
            <a:off x="1498600" y="4076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87" name="矩形 86"/>
          <p:cNvSpPr/>
          <p:nvPr/>
        </p:nvSpPr>
        <p:spPr>
          <a:xfrm>
            <a:off x="1828799" y="4051300"/>
            <a:ext cx="1713297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dirty="0">
                <a:solidFill>
                  <a:srgbClr val="1E293B"/>
                </a:solidFill>
                <a:latin typeface="Microsoft YaHei"/>
                <a:ea typeface="Microsoft YaHei"/>
              </a:rPr>
              <a:t>数据配比算法插件层</a:t>
            </a:r>
            <a:endParaRPr dirty="0"/>
          </a:p>
        </p:txBody>
      </p:sp>
      <p:sp>
        <p:nvSpPr>
          <p:cNvPr id="88" name="矩形: 圆角 87"/>
          <p:cNvSpPr/>
          <p:nvPr/>
        </p:nvSpPr>
        <p:spPr>
          <a:xfrm>
            <a:off x="3225800" y="3911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矩形 88"/>
          <p:cNvSpPr/>
          <p:nvPr/>
        </p:nvSpPr>
        <p:spPr>
          <a:xfrm>
            <a:off x="3263900" y="4076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QuadMix插件</a:t>
            </a:r>
            <a:endParaRPr/>
          </a:p>
        </p:txBody>
      </p:sp>
      <p:sp>
        <p:nvSpPr>
          <p:cNvPr id="90" name="矩形: 圆角 89"/>
          <p:cNvSpPr/>
          <p:nvPr/>
        </p:nvSpPr>
        <p:spPr>
          <a:xfrm>
            <a:off x="5073650" y="3911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矩形 90"/>
          <p:cNvSpPr/>
          <p:nvPr/>
        </p:nvSpPr>
        <p:spPr>
          <a:xfrm>
            <a:off x="5111750" y="4076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Random插件</a:t>
            </a:r>
            <a:endParaRPr/>
          </a:p>
        </p:txBody>
      </p:sp>
      <p:sp>
        <p:nvSpPr>
          <p:cNvPr id="92" name="矩形: 圆角 91"/>
          <p:cNvSpPr/>
          <p:nvPr/>
        </p:nvSpPr>
        <p:spPr>
          <a:xfrm>
            <a:off x="6921500" y="3911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矩形 92"/>
          <p:cNvSpPr/>
          <p:nvPr/>
        </p:nvSpPr>
        <p:spPr>
          <a:xfrm>
            <a:off x="6959600" y="4076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Manual Ratio插件</a:t>
            </a:r>
            <a:endParaRPr/>
          </a:p>
        </p:txBody>
      </p:sp>
      <p:sp>
        <p:nvSpPr>
          <p:cNvPr id="94" name="矩形: 圆角 93"/>
          <p:cNvSpPr/>
          <p:nvPr/>
        </p:nvSpPr>
        <p:spPr>
          <a:xfrm>
            <a:off x="8769350" y="3911600"/>
            <a:ext cx="177165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矩形 94"/>
          <p:cNvSpPr/>
          <p:nvPr/>
        </p:nvSpPr>
        <p:spPr>
          <a:xfrm>
            <a:off x="8807450" y="4076700"/>
            <a:ext cx="169545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1E293B"/>
                </a:solidFill>
                <a:latin typeface="Microsoft YaHei"/>
                <a:ea typeface="Microsoft YaHei"/>
              </a:rPr>
              <a:t>其他算法插件</a:t>
            </a:r>
            <a:endParaRPr/>
          </a:p>
        </p:txBody>
      </p:sp>
      <p:sp>
        <p:nvSpPr>
          <p:cNvPr id="96" name="矩形: 圆角 95"/>
          <p:cNvSpPr/>
          <p:nvPr/>
        </p:nvSpPr>
        <p:spPr>
          <a:xfrm>
            <a:off x="1397000" y="4597400"/>
            <a:ext cx="9271000" cy="685800"/>
          </a:xfrm>
          <a:prstGeom prst="roundRect">
            <a:avLst>
              <a:gd name="adj" fmla="val 4376"/>
            </a:avLst>
          </a:prstGeom>
          <a:solidFill>
            <a:srgbClr val="F3E8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矩形: 圆角 96"/>
          <p:cNvSpPr/>
          <p:nvPr/>
        </p:nvSpPr>
        <p:spPr>
          <a:xfrm>
            <a:off x="1498600" y="4800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矩形 97"/>
          <p:cNvSpPr/>
          <p:nvPr/>
        </p:nvSpPr>
        <p:spPr>
          <a:xfrm>
            <a:off x="1498600" y="4838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99" name="矩形 98"/>
          <p:cNvSpPr/>
          <p:nvPr/>
        </p:nvSpPr>
        <p:spPr>
          <a:xfrm>
            <a:off x="1828799" y="4813300"/>
            <a:ext cx="2338939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dirty="0">
                <a:solidFill>
                  <a:srgbClr val="1E293B"/>
                </a:solidFill>
                <a:latin typeface="Microsoft YaHei"/>
                <a:ea typeface="Microsoft YaHei"/>
              </a:rPr>
              <a:t>训练与验证插件层</a:t>
            </a:r>
            <a:endParaRPr dirty="0"/>
          </a:p>
        </p:txBody>
      </p:sp>
      <p:sp>
        <p:nvSpPr>
          <p:cNvPr id="100" name="矩形: 圆角 99"/>
          <p:cNvSpPr/>
          <p:nvPr/>
        </p:nvSpPr>
        <p:spPr>
          <a:xfrm>
            <a:off x="3225800" y="4780350"/>
            <a:ext cx="7179109" cy="318814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pPr algn="ctr"/>
            <a:r>
              <a:rPr lang="zh-CN" altLang="zh-CN" sz="1400" dirty="0"/>
              <a:t>Trainer</a:t>
            </a:r>
            <a:r>
              <a:rPr lang="zh-CN" altLang="en-US" sz="1400" dirty="0"/>
              <a:t>和</a:t>
            </a:r>
            <a:r>
              <a:rPr lang="zh-CN" altLang="zh-CN" sz="1400" dirty="0"/>
              <a:t>Evaluator可切换</a:t>
            </a:r>
            <a:endParaRPr lang="en-US" altLang="zh-CN" sz="1400" dirty="0"/>
          </a:p>
        </p:txBody>
      </p:sp>
      <p:sp>
        <p:nvSpPr>
          <p:cNvPr id="108" name="矩形: 圆角 107"/>
          <p:cNvSpPr/>
          <p:nvPr/>
        </p:nvSpPr>
        <p:spPr>
          <a:xfrm>
            <a:off x="1397000" y="5359400"/>
            <a:ext cx="9271000" cy="431800"/>
          </a:xfrm>
          <a:prstGeom prst="roundRect">
            <a:avLst>
              <a:gd name="adj" fmla="val 4376"/>
            </a:avLst>
          </a:prstGeom>
          <a:solidFill>
            <a:srgbClr val="FEF3C7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矩形: 圆角 108"/>
          <p:cNvSpPr/>
          <p:nvPr/>
        </p:nvSpPr>
        <p:spPr>
          <a:xfrm>
            <a:off x="1498600" y="5435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矩形 109"/>
          <p:cNvSpPr/>
          <p:nvPr/>
        </p:nvSpPr>
        <p:spPr>
          <a:xfrm>
            <a:off x="1498600" y="5473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111" name="矩形 110"/>
          <p:cNvSpPr/>
          <p:nvPr/>
        </p:nvSpPr>
        <p:spPr>
          <a:xfrm>
            <a:off x="1778000" y="5456922"/>
            <a:ext cx="1761423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dirty="0">
                <a:solidFill>
                  <a:srgbClr val="1E293B"/>
                </a:solidFill>
                <a:latin typeface="Microsoft YaHei"/>
                <a:ea typeface="Microsoft YaHei"/>
              </a:rPr>
              <a:t>分布式执行与集群层</a:t>
            </a:r>
            <a:endParaRPr dirty="0"/>
          </a:p>
        </p:txBody>
      </p:sp>
      <p:sp>
        <p:nvSpPr>
          <p:cNvPr id="112" name="矩形: 圆角 111"/>
          <p:cNvSpPr/>
          <p:nvPr/>
        </p:nvSpPr>
        <p:spPr>
          <a:xfrm>
            <a:off x="3225800" y="5418421"/>
            <a:ext cx="7340600" cy="27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r>
              <a:rPr lang="zh-CN" altLang="en-US" sz="1200" dirty="0"/>
              <a:t>可选的计算资源：本机，</a:t>
            </a:r>
            <a:r>
              <a:rPr lang="en-US" altLang="zh-CN" sz="1200" dirty="0"/>
              <a:t>GPU</a:t>
            </a:r>
            <a:r>
              <a:rPr lang="zh-CN" altLang="en-US" sz="1200" dirty="0"/>
              <a:t>服务器，昇腾</a:t>
            </a:r>
            <a:r>
              <a:rPr lang="en-US" altLang="zh-CN" sz="1200" dirty="0"/>
              <a:t>NPU</a:t>
            </a:r>
            <a:r>
              <a:rPr lang="zh-CN" altLang="en-US" sz="1200" dirty="0"/>
              <a:t>，</a:t>
            </a:r>
            <a:r>
              <a:rPr lang="en-US" altLang="zh-CN" sz="1200" dirty="0" err="1"/>
              <a:t>Slurm</a:t>
            </a:r>
            <a:r>
              <a:rPr lang="zh-CN" altLang="en-US" sz="1200" dirty="0"/>
              <a:t>集群，</a:t>
            </a:r>
            <a:r>
              <a:rPr lang="en-US" altLang="zh-CN" sz="1200" dirty="0"/>
              <a:t>Kubernetes</a:t>
            </a:r>
            <a:r>
              <a:rPr lang="zh-CN" altLang="en-US" sz="1200" dirty="0"/>
              <a:t>集群，远程高性能集群</a:t>
            </a:r>
            <a:endParaRPr sz="1200" dirty="0"/>
          </a:p>
        </p:txBody>
      </p:sp>
      <p:sp>
        <p:nvSpPr>
          <p:cNvPr id="122" name="矩形: 圆角 121"/>
          <p:cNvSpPr/>
          <p:nvPr/>
        </p:nvSpPr>
        <p:spPr>
          <a:xfrm>
            <a:off x="1397000" y="5867400"/>
            <a:ext cx="9271000" cy="685800"/>
          </a:xfrm>
          <a:prstGeom prst="roundRect">
            <a:avLst>
              <a:gd name="adj" fmla="val 4376"/>
            </a:avLst>
          </a:prstGeom>
          <a:solidFill>
            <a:srgbClr val="FEE2E2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" name="矩形: 圆角 122"/>
          <p:cNvSpPr/>
          <p:nvPr/>
        </p:nvSpPr>
        <p:spPr>
          <a:xfrm>
            <a:off x="1498600" y="6070600"/>
            <a:ext cx="279400" cy="279400"/>
          </a:xfrm>
          <a:prstGeom prst="roundRect">
            <a:avLst>
              <a:gd name="adj" fmla="val 437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矩形 123"/>
          <p:cNvSpPr/>
          <p:nvPr/>
        </p:nvSpPr>
        <p:spPr>
          <a:xfrm>
            <a:off x="1498600" y="6108700"/>
            <a:ext cx="2794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125" name="矩形 124"/>
          <p:cNvSpPr/>
          <p:nvPr/>
        </p:nvSpPr>
        <p:spPr>
          <a:xfrm>
            <a:off x="1828800" y="6083300"/>
            <a:ext cx="14224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dirty="0">
                <a:solidFill>
                  <a:srgbClr val="1E293B"/>
                </a:solidFill>
                <a:latin typeface="Microsoft YaHei"/>
                <a:ea typeface="Microsoft YaHei"/>
              </a:rPr>
              <a:t>结果分析与实验管理层</a:t>
            </a:r>
            <a:endParaRPr dirty="0"/>
          </a:p>
        </p:txBody>
      </p:sp>
      <p:sp>
        <p:nvSpPr>
          <p:cNvPr id="138" name="直接连接符 137"/>
          <p:cNvSpPr/>
          <p:nvPr/>
        </p:nvSpPr>
        <p:spPr>
          <a:xfrm>
            <a:off x="6032500" y="1511300"/>
            <a:ext cx="0" cy="38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9" name="直接连接符 138"/>
          <p:cNvSpPr/>
          <p:nvPr/>
        </p:nvSpPr>
        <p:spPr>
          <a:xfrm>
            <a:off x="6032500" y="1981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0" name="直接连接符 139"/>
          <p:cNvSpPr/>
          <p:nvPr/>
        </p:nvSpPr>
        <p:spPr>
          <a:xfrm>
            <a:off x="6032500" y="2743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1" name="直接连接符 140"/>
          <p:cNvSpPr/>
          <p:nvPr/>
        </p:nvSpPr>
        <p:spPr>
          <a:xfrm>
            <a:off x="6032500" y="3251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2" name="直接连接符 141"/>
          <p:cNvSpPr/>
          <p:nvPr/>
        </p:nvSpPr>
        <p:spPr>
          <a:xfrm>
            <a:off x="6032500" y="3759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3" name="直接连接符 142"/>
          <p:cNvSpPr/>
          <p:nvPr/>
        </p:nvSpPr>
        <p:spPr>
          <a:xfrm>
            <a:off x="6032500" y="4521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4" name="直接连接符 143"/>
          <p:cNvSpPr/>
          <p:nvPr/>
        </p:nvSpPr>
        <p:spPr>
          <a:xfrm>
            <a:off x="6032500" y="5283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5" name="直接连接符 144"/>
          <p:cNvSpPr/>
          <p:nvPr/>
        </p:nvSpPr>
        <p:spPr>
          <a:xfrm>
            <a:off x="6032500" y="5791200"/>
            <a:ext cx="0" cy="76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6" name="矩形: 圆角 145"/>
          <p:cNvSpPr/>
          <p:nvPr/>
        </p:nvSpPr>
        <p:spPr>
          <a:xfrm>
            <a:off x="10820400" y="1803400"/>
            <a:ext cx="1244600" cy="1016000"/>
          </a:xfrm>
          <a:prstGeom prst="roundRect">
            <a:avLst>
              <a:gd name="adj" fmla="val 4376"/>
            </a:avLst>
          </a:prstGeom>
          <a:solidFill>
            <a:srgbClr val="FEF3C7"/>
          </a:solidFill>
          <a:ln w="19050">
            <a:solidFill>
              <a:srgbClr val="92400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" name="矩形 146"/>
          <p:cNvSpPr/>
          <p:nvPr/>
        </p:nvSpPr>
        <p:spPr>
          <a:xfrm>
            <a:off x="10795000" y="1892300"/>
            <a:ext cx="1404486" cy="431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 dirty="0">
                <a:solidFill>
                  <a:srgbClr val="92400E"/>
                </a:solidFill>
                <a:latin typeface="Microsoft YaHei"/>
                <a:ea typeface="Microsoft YaHei"/>
              </a:rPr>
              <a:t>先校验，再运行</a:t>
            </a:r>
            <a:endParaRPr dirty="0"/>
          </a:p>
        </p:txBody>
      </p:sp>
      <p:sp>
        <p:nvSpPr>
          <p:cNvPr id="148" name="矩形 147"/>
          <p:cNvSpPr/>
          <p:nvPr/>
        </p:nvSpPr>
        <p:spPr>
          <a:xfrm>
            <a:off x="10896600" y="2209800"/>
            <a:ext cx="1092200" cy="55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 dirty="0">
                <a:solidFill>
                  <a:srgbClr val="92400E"/>
                </a:solidFill>
                <a:latin typeface="Microsoft YaHei"/>
                <a:ea typeface="Microsoft YaHei"/>
              </a:rPr>
              <a:t>保障数据质量
降低运行风险</a:t>
            </a:r>
            <a:endParaRPr dirty="0"/>
          </a:p>
        </p:txBody>
      </p:sp>
      <p:sp>
        <p:nvSpPr>
          <p:cNvPr id="149" name="矩形: 圆角 148"/>
          <p:cNvSpPr/>
          <p:nvPr/>
        </p:nvSpPr>
        <p:spPr>
          <a:xfrm>
            <a:off x="10820400" y="3073400"/>
            <a:ext cx="1244600" cy="1016000"/>
          </a:xfrm>
          <a:prstGeom prst="roundRect">
            <a:avLst>
              <a:gd name="adj" fmla="val 4376"/>
            </a:avLst>
          </a:prstGeom>
          <a:solidFill>
            <a:srgbClr val="DCFCE7"/>
          </a:solidFill>
          <a:ln w="19050">
            <a:solidFill>
              <a:srgbClr val="1665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" name="矩形 149"/>
          <p:cNvSpPr/>
          <p:nvPr/>
        </p:nvSpPr>
        <p:spPr>
          <a:xfrm>
            <a:off x="10826750" y="3162300"/>
            <a:ext cx="1263650" cy="279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 dirty="0">
                <a:solidFill>
                  <a:srgbClr val="166534"/>
                </a:solidFill>
                <a:latin typeface="Microsoft YaHei"/>
                <a:ea typeface="Microsoft YaHei"/>
              </a:rPr>
              <a:t>算法模块可替换</a:t>
            </a:r>
            <a:endParaRPr dirty="0"/>
          </a:p>
        </p:txBody>
      </p:sp>
      <p:sp>
        <p:nvSpPr>
          <p:cNvPr id="151" name="矩形 150"/>
          <p:cNvSpPr/>
          <p:nvPr/>
        </p:nvSpPr>
        <p:spPr>
          <a:xfrm>
            <a:off x="10896600" y="3479800"/>
            <a:ext cx="1092200" cy="55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166534"/>
                </a:solidFill>
                <a:latin typeface="Microsoft YaHei"/>
                <a:ea typeface="Microsoft YaHei"/>
              </a:rPr>
              <a:t>遵循统一接口
轻松扩展新算法</a:t>
            </a:r>
            <a:endParaRPr/>
          </a:p>
        </p:txBody>
      </p:sp>
      <p:sp>
        <p:nvSpPr>
          <p:cNvPr id="152" name="矩形: 圆角 151"/>
          <p:cNvSpPr/>
          <p:nvPr/>
        </p:nvSpPr>
        <p:spPr>
          <a:xfrm>
            <a:off x="10820400" y="4343400"/>
            <a:ext cx="1244600" cy="1016000"/>
          </a:xfrm>
          <a:prstGeom prst="roundRect">
            <a:avLst>
              <a:gd name="adj" fmla="val 4376"/>
            </a:avLst>
          </a:prstGeom>
          <a:solidFill>
            <a:srgbClr val="F3E8FF"/>
          </a:solidFill>
          <a:ln w="19050">
            <a:solidFill>
              <a:srgbClr val="6B21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3" name="矩形 152"/>
          <p:cNvSpPr/>
          <p:nvPr/>
        </p:nvSpPr>
        <p:spPr>
          <a:xfrm>
            <a:off x="10864850" y="4438764"/>
            <a:ext cx="1295400" cy="279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 dirty="0">
                <a:solidFill>
                  <a:srgbClr val="6B21A8"/>
                </a:solidFill>
                <a:latin typeface="Microsoft YaHei"/>
                <a:ea typeface="Microsoft YaHei"/>
              </a:rPr>
              <a:t>验证方法可切换</a:t>
            </a:r>
            <a:endParaRPr dirty="0"/>
          </a:p>
        </p:txBody>
      </p:sp>
      <p:sp>
        <p:nvSpPr>
          <p:cNvPr id="154" name="矩形 153"/>
          <p:cNvSpPr/>
          <p:nvPr/>
        </p:nvSpPr>
        <p:spPr>
          <a:xfrm>
            <a:off x="10896600" y="4749800"/>
            <a:ext cx="1092200" cy="55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6B21A8"/>
                </a:solidFill>
                <a:latin typeface="Microsoft YaHei"/>
                <a:ea typeface="Microsoft YaHei"/>
              </a:rPr>
              <a:t>评测插件化
按需选择最佳方案</a:t>
            </a:r>
            <a:endParaRPr/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E2892D39-CF06-F9C7-AFF8-CAE3B5AC3D38}"/>
              </a:ext>
            </a:extLst>
          </p:cNvPr>
          <p:cNvSpPr/>
          <p:nvPr/>
        </p:nvSpPr>
        <p:spPr>
          <a:xfrm>
            <a:off x="3285824" y="6032500"/>
            <a:ext cx="7280576" cy="431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r>
              <a:rPr lang="zh-CN" altLang="zh-CN" sz="1200" dirty="0"/>
              <a:t>输出标准结果</a:t>
            </a:r>
            <a:r>
              <a:rPr lang="en-US" altLang="zh-CN" sz="1200" dirty="0"/>
              <a:t>:</a:t>
            </a:r>
            <a:r>
              <a:rPr lang="zh-CN" altLang="en-US" sz="1200" dirty="0"/>
              <a:t>数据信息</a:t>
            </a:r>
            <a:r>
              <a:rPr lang="en-US" altLang="zh-CN" sz="1200" dirty="0"/>
              <a:t>,</a:t>
            </a:r>
            <a:r>
              <a:rPr lang="zh-CN" altLang="en-US" sz="1200" dirty="0"/>
              <a:t>配比比例 </a:t>
            </a:r>
            <a:r>
              <a:rPr lang="en-US" altLang="zh-CN" sz="1200" dirty="0"/>
              <a:t>,</a:t>
            </a:r>
            <a:r>
              <a:rPr lang="en-US" altLang="zh-CN" sz="1200" dirty="0" err="1"/>
              <a:t>QuadMix</a:t>
            </a:r>
            <a:r>
              <a:rPr lang="zh-CN" altLang="en-US" sz="1200" dirty="0"/>
              <a:t>参数 </a:t>
            </a:r>
            <a:r>
              <a:rPr lang="en-US" altLang="zh-CN" sz="1200" dirty="0"/>
              <a:t>,Training </a:t>
            </a:r>
            <a:r>
              <a:rPr lang="en-US" altLang="zh-CN" sz="1200" dirty="0" err="1"/>
              <a:t>Loss,STEM</a:t>
            </a:r>
            <a:r>
              <a:rPr lang="en-US" altLang="zh-CN" sz="1200" dirty="0"/>
              <a:t> Score ,Diversity  ,Quality   ,Checkpoint</a:t>
            </a:r>
            <a:endParaRPr lang="zh-CN" altLang="en-US" sz="1200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11B0E53-9327-2621-46AA-F98774C67F6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87659" y="91281"/>
            <a:ext cx="10216682" cy="667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961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Microsoft Office PowerPoint</Application>
  <PresentationFormat>宽屏</PresentationFormat>
  <Paragraphs>60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Microsoft YaHei</vt:lpstr>
      <vt:lpstr>Aptos</vt:lpstr>
      <vt:lpstr>Aptos Display</vt:lpstr>
      <vt:lpstr>Arial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asper J</cp:lastModifiedBy>
  <cp:revision>1</cp:revision>
  <dcterms:created xsi:type="dcterms:W3CDTF">2026-08-17T16:06:39Z</dcterms:created>
  <dcterms:modified xsi:type="dcterms:W3CDTF">2026-08-17T12:30:23Z</dcterms:modified>
</cp:coreProperties>
</file>